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4" r:id="rId3"/>
    <p:sldId id="282" r:id="rId4"/>
    <p:sldId id="281" r:id="rId5"/>
    <p:sldId id="279" r:id="rId6"/>
    <p:sldId id="280" r:id="rId7"/>
    <p:sldId id="270" r:id="rId8"/>
    <p:sldId id="274" r:id="rId9"/>
    <p:sldId id="275" r:id="rId10"/>
    <p:sldId id="278" r:id="rId11"/>
    <p:sldId id="265" r:id="rId12"/>
    <p:sldId id="276" r:id="rId13"/>
    <p:sldId id="277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A31E"/>
    <a:srgbClr val="3B87FF"/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>
        <p:scale>
          <a:sx n="125" d="100"/>
          <a:sy n="125" d="100"/>
        </p:scale>
        <p:origin x="41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77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2.jpeg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diagnostic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identifiées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_titre_fiches_diagnostic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titre_fiches_diagnostic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simplifiée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surchauffe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28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1037765" y="1421116"/>
            <a:ext cx="324474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1400" b="1" kern="0" spc="150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urbain</a:t>
            </a:r>
            <a:endParaRPr lang="en-US" sz="1400" b="1" dirty="0">
              <a:solidFill>
                <a:srgbClr val="000091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413637" y="2480540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coeff_ru_resultat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3217874" y="1337544"/>
            <a:ext cx="234135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coeff_ru</a:t>
            </a:r>
            <a:r>
              <a:rPr lang="fr-F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508248" y="2886968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réchauffant</a:t>
            </a:r>
          </a:p>
        </p:txBody>
      </p:sp>
      <p:sp>
        <p:nvSpPr>
          <p:cNvPr id="26" name="zone_coeff_ru_analyse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508248" y="3510262"/>
            <a:ext cx="55205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analyse_coeff_ru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19" name="Graphique 18">
            <a:extLst>
              <a:ext uri="{FF2B5EF4-FFF2-40B4-BE49-F238E27FC236}">
                <a16:creationId xmlns:a16="http://schemas.microsoft.com/office/drawing/2014/main" id="{7F04C829-FC9E-0D50-4C89-B26887E9A2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412" y="1351292"/>
            <a:ext cx="421353" cy="421353"/>
          </a:xfrm>
          <a:prstGeom prst="rect">
            <a:avLst/>
          </a:prstGeom>
        </p:spPr>
      </p:pic>
      <p:pic>
        <p:nvPicPr>
          <p:cNvPr id="22" name="zone_coeff_ru_echelle">
            <a:extLst>
              <a:ext uri="{FF2B5EF4-FFF2-40B4-BE49-F238E27FC236}">
                <a16:creationId xmlns:a16="http://schemas.microsoft.com/office/drawing/2014/main" id="{76E8F867-23AD-C898-638B-48FE80B6F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1763" y="2259705"/>
            <a:ext cx="4785652" cy="247650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2CCBF05D-7C66-27DA-1E1D-7F954CC00891}"/>
              </a:ext>
            </a:extLst>
          </p:cNvPr>
          <p:cNvSpPr txBox="1"/>
          <p:nvPr/>
        </p:nvSpPr>
        <p:spPr>
          <a:xfrm>
            <a:off x="5188647" y="2480540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31BEB7D-AA3D-0C43-A325-16764A9732EB}"/>
              </a:ext>
            </a:extLst>
          </p:cNvPr>
          <p:cNvSpPr txBox="1"/>
          <p:nvPr/>
        </p:nvSpPr>
        <p:spPr>
          <a:xfrm>
            <a:off x="3991909" y="2897891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rafraîchissant</a:t>
            </a:r>
          </a:p>
        </p:txBody>
      </p:sp>
      <p:pic>
        <p:nvPicPr>
          <p:cNvPr id="32" name="zone_coeff_ru_curseur">
            <a:extLst>
              <a:ext uri="{FF2B5EF4-FFF2-40B4-BE49-F238E27FC236}">
                <a16:creationId xmlns:a16="http://schemas.microsoft.com/office/drawing/2014/main" id="{07E6566C-AE16-33FB-0B10-1897683DF4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8547" y="2049705"/>
            <a:ext cx="314325" cy="2857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1F5DF589-1FD3-4B13-9BAB-E4814C1486FA}"/>
              </a:ext>
            </a:extLst>
          </p:cNvPr>
          <p:cNvSpPr txBox="1"/>
          <p:nvPr/>
        </p:nvSpPr>
        <p:spPr>
          <a:xfrm>
            <a:off x="2810238" y="2480540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586A8838-E396-59E5-AC0F-DB258C9BB497}"/>
              </a:ext>
            </a:extLst>
          </p:cNvPr>
          <p:cNvSpPr/>
          <p:nvPr/>
        </p:nvSpPr>
        <p:spPr>
          <a:xfrm>
            <a:off x="7708478" y="1421116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3B87FF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Perméabilité</a:t>
            </a:r>
            <a:endParaRPr lang="en-US" sz="1300" b="1" dirty="0">
              <a:solidFill>
                <a:srgbClr val="3B87FF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B40908C-E01E-18F0-EE48-0E6C941956C2}"/>
              </a:ext>
            </a:extLst>
          </p:cNvPr>
          <p:cNvSpPr txBox="1"/>
          <p:nvPr/>
        </p:nvSpPr>
        <p:spPr>
          <a:xfrm>
            <a:off x="7036396" y="2312372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zone_coeff_perm_resultat">
            <a:extLst>
              <a:ext uri="{FF2B5EF4-FFF2-40B4-BE49-F238E27FC236}">
                <a16:creationId xmlns:a16="http://schemas.microsoft.com/office/drawing/2014/main" id="{0C9F516E-8C48-ED2A-8BD0-085E0A2F73E6}"/>
              </a:ext>
            </a:extLst>
          </p:cNvPr>
          <p:cNvSpPr txBox="1"/>
          <p:nvPr/>
        </p:nvSpPr>
        <p:spPr>
          <a:xfrm>
            <a:off x="9916038" y="1373443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coeff_perm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F0A19D3-B533-0DA6-2599-67AE29B1CA40}"/>
              </a:ext>
            </a:extLst>
          </p:cNvPr>
          <p:cNvSpPr txBox="1"/>
          <p:nvPr/>
        </p:nvSpPr>
        <p:spPr>
          <a:xfrm>
            <a:off x="7117416" y="2640276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imperméables</a:t>
            </a:r>
          </a:p>
        </p:txBody>
      </p:sp>
      <p:sp>
        <p:nvSpPr>
          <p:cNvPr id="42" name="zone_coeff_perm_analyse">
            <a:extLst>
              <a:ext uri="{FF2B5EF4-FFF2-40B4-BE49-F238E27FC236}">
                <a16:creationId xmlns:a16="http://schemas.microsoft.com/office/drawing/2014/main" id="{D815779D-E063-1683-BE0A-93A969EED637}"/>
              </a:ext>
            </a:extLst>
          </p:cNvPr>
          <p:cNvSpPr txBox="1"/>
          <p:nvPr/>
        </p:nvSpPr>
        <p:spPr>
          <a:xfrm>
            <a:off x="7117417" y="3015880"/>
            <a:ext cx="378357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analyse_coeff_perm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155C661-08F5-D72C-6159-534478BB643B}"/>
              </a:ext>
            </a:extLst>
          </p:cNvPr>
          <p:cNvSpPr txBox="1"/>
          <p:nvPr/>
        </p:nvSpPr>
        <p:spPr>
          <a:xfrm>
            <a:off x="11677801" y="2312372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3B861828-3789-1227-5D24-D929840053A3}"/>
              </a:ext>
            </a:extLst>
          </p:cNvPr>
          <p:cNvSpPr txBox="1"/>
          <p:nvPr/>
        </p:nvSpPr>
        <p:spPr>
          <a:xfrm>
            <a:off x="10460304" y="2673476"/>
            <a:ext cx="1570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perméables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78F3BB8-CE4E-9740-E494-B41572EA3E7A}"/>
              </a:ext>
            </a:extLst>
          </p:cNvPr>
          <p:cNvSpPr txBox="1"/>
          <p:nvPr/>
        </p:nvSpPr>
        <p:spPr>
          <a:xfrm>
            <a:off x="9362518" y="2313475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268903-4805-4D69-25F9-A7CAA99CCA3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60931" y="1410222"/>
            <a:ext cx="341505" cy="341505"/>
          </a:xfrm>
          <a:prstGeom prst="rect">
            <a:avLst/>
          </a:prstGeom>
        </p:spPr>
      </p:pic>
      <p:pic>
        <p:nvPicPr>
          <p:cNvPr id="57" name="zone_coeff_perm_echelle">
            <a:extLst>
              <a:ext uri="{FF2B5EF4-FFF2-40B4-BE49-F238E27FC236}">
                <a16:creationId xmlns:a16="http://schemas.microsoft.com/office/drawing/2014/main" id="{EF0F536C-1764-1056-48BC-43AB3887574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74521" y="2086826"/>
            <a:ext cx="4652244" cy="234744"/>
          </a:xfrm>
          <a:prstGeom prst="rect">
            <a:avLst/>
          </a:prstGeom>
        </p:spPr>
      </p:pic>
      <p:pic>
        <p:nvPicPr>
          <p:cNvPr id="50" name="zone_coeff_perm_curseur">
            <a:extLst>
              <a:ext uri="{FF2B5EF4-FFF2-40B4-BE49-F238E27FC236}">
                <a16:creationId xmlns:a16="http://schemas.microsoft.com/office/drawing/2014/main" id="{3BA044A5-E7AE-D86E-2624-A658E6201E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35688" y="1950732"/>
            <a:ext cx="224536" cy="204124"/>
          </a:xfrm>
          <a:prstGeom prst="rect">
            <a:avLst/>
          </a:prstGeom>
        </p:spPr>
      </p:pic>
      <p:sp>
        <p:nvSpPr>
          <p:cNvPr id="69" name="Text 16">
            <a:extLst>
              <a:ext uri="{FF2B5EF4-FFF2-40B4-BE49-F238E27FC236}">
                <a16:creationId xmlns:a16="http://schemas.microsoft.com/office/drawing/2014/main" id="{FDD54181-1A52-1FB0-8094-240DCA72BF57}"/>
              </a:ext>
            </a:extLst>
          </p:cNvPr>
          <p:cNvSpPr/>
          <p:nvPr/>
        </p:nvSpPr>
        <p:spPr>
          <a:xfrm>
            <a:off x="7708478" y="4136354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29A31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</a:t>
            </a:r>
            <a:endParaRPr lang="en-US" sz="1300" b="1" dirty="0">
              <a:solidFill>
                <a:srgbClr val="29A31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2C5F969-AE63-3128-F3BB-7DC5604B47A5}"/>
              </a:ext>
            </a:extLst>
          </p:cNvPr>
          <p:cNvSpPr txBox="1"/>
          <p:nvPr/>
        </p:nvSpPr>
        <p:spPr>
          <a:xfrm>
            <a:off x="7036396" y="502761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zone_coeff_bio_resultat">
            <a:extLst>
              <a:ext uri="{FF2B5EF4-FFF2-40B4-BE49-F238E27FC236}">
                <a16:creationId xmlns:a16="http://schemas.microsoft.com/office/drawing/2014/main" id="{4AB29B46-26F9-32EF-1FA1-8E9998B06F53}"/>
              </a:ext>
            </a:extLst>
          </p:cNvPr>
          <p:cNvSpPr txBox="1"/>
          <p:nvPr/>
        </p:nvSpPr>
        <p:spPr>
          <a:xfrm>
            <a:off x="9916038" y="4088681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coeff_bio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9205A4B-479A-F86A-1319-61FAC62C125B}"/>
              </a:ext>
            </a:extLst>
          </p:cNvPr>
          <p:cNvSpPr txBox="1"/>
          <p:nvPr/>
        </p:nvSpPr>
        <p:spPr>
          <a:xfrm>
            <a:off x="7117416" y="5355514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 inexistante</a:t>
            </a:r>
          </a:p>
        </p:txBody>
      </p:sp>
      <p:sp>
        <p:nvSpPr>
          <p:cNvPr id="73" name="zone_coeff_bio_analyse">
            <a:extLst>
              <a:ext uri="{FF2B5EF4-FFF2-40B4-BE49-F238E27FC236}">
                <a16:creationId xmlns:a16="http://schemas.microsoft.com/office/drawing/2014/main" id="{165C3EED-35E8-A107-2A5B-A5E12189F11F}"/>
              </a:ext>
            </a:extLst>
          </p:cNvPr>
          <p:cNvSpPr txBox="1"/>
          <p:nvPr/>
        </p:nvSpPr>
        <p:spPr>
          <a:xfrm>
            <a:off x="7117417" y="5731118"/>
            <a:ext cx="378357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analyse_coeff_bio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226318D-0873-1A75-0DCA-C5F273BA3CCD}"/>
              </a:ext>
            </a:extLst>
          </p:cNvPr>
          <p:cNvSpPr txBox="1"/>
          <p:nvPr/>
        </p:nvSpPr>
        <p:spPr>
          <a:xfrm>
            <a:off x="11677801" y="502761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7FEB726F-451B-12CF-95E2-3B95D18FBBAD}"/>
              </a:ext>
            </a:extLst>
          </p:cNvPr>
          <p:cNvSpPr txBox="1"/>
          <p:nvPr/>
        </p:nvSpPr>
        <p:spPr>
          <a:xfrm>
            <a:off x="10058401" y="5388714"/>
            <a:ext cx="1972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Potentiel écosystème-relais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E1DF01C-0F14-B74F-F7CB-666DD3A739BC}"/>
              </a:ext>
            </a:extLst>
          </p:cNvPr>
          <p:cNvSpPr txBox="1"/>
          <p:nvPr/>
        </p:nvSpPr>
        <p:spPr>
          <a:xfrm>
            <a:off x="9362518" y="5028713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1" name="zone_coeff_bio_echelle">
            <a:extLst>
              <a:ext uri="{FF2B5EF4-FFF2-40B4-BE49-F238E27FC236}">
                <a16:creationId xmlns:a16="http://schemas.microsoft.com/office/drawing/2014/main" id="{E05A7EC6-5813-390D-C513-B8F343743BC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274522" y="4801306"/>
            <a:ext cx="4652243" cy="241049"/>
          </a:xfrm>
          <a:prstGeom prst="rect">
            <a:avLst/>
          </a:prstGeom>
        </p:spPr>
      </p:pic>
      <p:pic>
        <p:nvPicPr>
          <p:cNvPr id="79" name="zone_coeff_bio_curseur">
            <a:extLst>
              <a:ext uri="{FF2B5EF4-FFF2-40B4-BE49-F238E27FC236}">
                <a16:creationId xmlns:a16="http://schemas.microsoft.com/office/drawing/2014/main" id="{6E922DBF-EC40-62AE-5811-0C7DA85797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35688" y="4665970"/>
            <a:ext cx="224536" cy="204124"/>
          </a:xfrm>
          <a:prstGeom prst="rect">
            <a:avLst/>
          </a:prstGeom>
        </p:spPr>
      </p:pic>
      <p:pic>
        <p:nvPicPr>
          <p:cNvPr id="83" name="Graphique 82">
            <a:extLst>
              <a:ext uri="{FF2B5EF4-FFF2-40B4-BE49-F238E27FC236}">
                <a16:creationId xmlns:a16="http://schemas.microsoft.com/office/drawing/2014/main" id="{F4830C2E-47F8-242B-E106-D059B106FBE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282033" y="4085263"/>
            <a:ext cx="356382" cy="356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85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542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011736" y="150132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645627" y="1501320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 de la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061698" y="195079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nom_scientifique_fiche_diagnostic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695590" y="1910702"/>
            <a:ext cx="50979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nom_scientifique_fiche_diagnostic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053822" y="243411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Temporalité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_delai_fiche_diagnostic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8597701" y="2458700"/>
            <a:ext cx="3126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_cout_fiche_diagnostic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791261" y="1966678"/>
            <a:ext cx="39325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CA41AB5B-09AF-0B22-7941-4C1F6CF4952C}"/>
              </a:ext>
            </a:extLst>
          </p:cNvPr>
          <p:cNvSpPr/>
          <p:nvPr/>
        </p:nvSpPr>
        <p:spPr>
          <a:xfrm>
            <a:off x="7011736" y="3617884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 de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livrable</a:t>
            </a:r>
            <a:endParaRPr lang="en-US" b="1" kern="0" spc="15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_type_livrable">
            <a:extLst>
              <a:ext uri="{FF2B5EF4-FFF2-40B4-BE49-F238E27FC236}">
                <a16:creationId xmlns:a16="http://schemas.microsoft.com/office/drawing/2014/main" id="{C75D01EB-F121-7AF7-4BAD-AF866701B221}"/>
              </a:ext>
            </a:extLst>
          </p:cNvPr>
          <p:cNvSpPr txBox="1"/>
          <p:nvPr/>
        </p:nvSpPr>
        <p:spPr>
          <a:xfrm>
            <a:off x="7061697" y="4090330"/>
            <a:ext cx="36693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type_livrable_fiche_diagnostic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0" name="zone_objectifs_fiche_diagnostic_titre">
            <a:extLst>
              <a:ext uri="{FF2B5EF4-FFF2-40B4-BE49-F238E27FC236}">
                <a16:creationId xmlns:a16="http://schemas.microsoft.com/office/drawing/2014/main" id="{99E06783-A889-DA6B-5F7C-5556B6AEA860}"/>
              </a:ext>
            </a:extLst>
          </p:cNvPr>
          <p:cNvSpPr/>
          <p:nvPr/>
        </p:nvSpPr>
        <p:spPr>
          <a:xfrm>
            <a:off x="695590" y="2680171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_objectifs_fiche_diagnostic">
            <a:extLst>
              <a:ext uri="{FF2B5EF4-FFF2-40B4-BE49-F238E27FC236}">
                <a16:creationId xmlns:a16="http://schemas.microsoft.com/office/drawing/2014/main" id="{E94DA038-428D-E601-0430-B2A3A81A2CB9}"/>
              </a:ext>
            </a:extLst>
          </p:cNvPr>
          <p:cNvSpPr txBox="1"/>
          <p:nvPr/>
        </p:nvSpPr>
        <p:spPr>
          <a:xfrm>
            <a:off x="695590" y="3127382"/>
            <a:ext cx="54004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10928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43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1359883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2359</TotalTime>
  <Words>684</Words>
  <Application>Microsoft Office PowerPoint</Application>
  <PresentationFormat>Grand écran</PresentationFormat>
  <Paragraphs>122</Paragraphs>
  <Slides>13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Analyse simplifiée de la surchauffe de l’espace à rafraîchir</vt:lpstr>
      <vt:lpstr>Méthode {{n°_diagnostic}} : {{titre_fiche_diagnostic}}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262</cp:revision>
  <dcterms:created xsi:type="dcterms:W3CDTF">2026-05-22T14:14:17Z</dcterms:created>
  <dcterms:modified xsi:type="dcterms:W3CDTF">2026-10-02T15:40:47Z</dcterms:modified>
</cp:coreProperties>
</file>