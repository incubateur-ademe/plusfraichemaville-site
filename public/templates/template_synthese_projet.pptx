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6" r:id="rId2"/>
    <p:sldId id="264" r:id="rId3"/>
    <p:sldId id="266" r:id="rId4"/>
    <p:sldId id="270" r:id="rId5"/>
    <p:sldId id="274" r:id="rId6"/>
    <p:sldId id="275" r:id="rId7"/>
    <p:sldId id="276" r:id="rId8"/>
    <p:sldId id="277" r:id="rId9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D4A22B3-35B8-B2AA-CEF8-1EDEF9AF0C5F}" name="Raphaël TAÏEB (Ext)" initials="R(" userId="S::raphael.taieb.ext@ademe.fr::ff5ea9b3-0b07-480c-87b6-f2a7ce5e8033" providerId="AD"/>
  <p188:author id="{CDC325DB-9363-7600-73A4-0144C121D599}" name="Bettina LEBLANC (Ext)" initials="B(" userId="S::bettina.leblanc.ext@ademe.fr::3e52b1ca-21aa-44d1-8a76-ff8fdb1085e4" providerId="AD"/>
  <p188:author id="{6BD453F1-7568-3F9D-7EA7-1C915E9D23ED}" name="Alice BOUR (EXT)" initials="A(" userId="S::alice.bour.ext@ademe.fr::9b10eec9-7284-410c-91d6-e03941a3858e" providerId="AD"/>
  <p188:author id="{23E434F2-2295-D2AE-2641-3CE0CF4F11B7}" name="Alexia BUCLET (Ext)" initials="A(" userId="S::alexia.buclet.ext@ademe.fr::8ded202f-f929-4eb7-98cb-33adf7b3059b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9" autoAdjust="0"/>
    <p:restoredTop sz="94660"/>
  </p:normalViewPr>
  <p:slideViewPr>
    <p:cSldViewPr snapToGrid="0">
      <p:cViewPr varScale="1">
        <p:scale>
          <a:sx n="95" d="100"/>
          <a:sy n="95" d="100"/>
        </p:scale>
        <p:origin x="104" y="2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8/10/relationships/authors" Target="author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C638A9C-6ED0-4718-B5E7-9D405962C144}" type="datetimeFigureOut">
              <a:rPr lang="fr-FR" smtClean="0"/>
              <a:t>14/09/2026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D68AD46-B04C-426F-AD53-1ADC867E012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111628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8D1F06-EBEC-48E7-718E-679E9C7AB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188976-03C7-BDC5-F35A-502E38D967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392900-84C4-792B-45B3-9A38832A47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3A749C-0CD8-8944-6CB6-BFC00D52AF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334977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8D1F06-EBEC-48E7-718E-679E9C7AB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188976-03C7-BDC5-F35A-502E38D967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392900-84C4-792B-45B3-9A38832A47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3A749C-0CD8-8944-6CB6-BFC00D52AF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65186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8D1F06-EBEC-48E7-718E-679E9C7AB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188976-03C7-BDC5-F35A-502E38D967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392900-84C4-792B-45B3-9A38832A47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3A749C-0CD8-8944-6CB6-BFC00D52AF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36410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A51F3E0-F62C-2DC9-E805-EA9BC78202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D0BFC53C-6840-85FC-CC7D-ACF50725C4E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C2B2351-BA08-8543-B6E9-51B2D2B907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14/09/2026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1C3682F-C699-F365-A134-71A7EBF12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3416E99-1E6F-D260-FADD-53997FBA87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320568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66062FF-9B14-0758-A470-0C1C346996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45D7879-1085-4DE8-3BB3-08AE285D01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163CC25-7451-7A9D-952E-C286527300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14/09/2026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1186715-C73F-5D9E-7724-9675515B7F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1257789-08D4-5679-CBA2-02A49C3E3D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44583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6C86D54-0A35-F257-CF3A-F5BF470C72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3BB5F6C-9A69-B8C1-E69A-A025AFBC67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1DB1854-8E92-B20F-F402-70DF25AA41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14/09/2026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5FA73AF-5114-758E-7484-C7292D82B2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E5E9363-AB5F-C53F-7F62-83A237CC63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950762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8D0E8C7-BC68-412C-4152-FF9544754D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C630DDF-D3D2-202E-CEB4-1F8F464379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379626A1-B432-B8B2-7555-D204FF185A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D5BDA1A-0847-48E6-93CF-FB3C8419D2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14/09/2026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F9CADF9A-9CB3-7537-F5B2-E11FD874BD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E45253E-5DB5-A084-30F8-BD42D74F09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968973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361640F-DB27-0228-A73B-A9DE53300F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6F0C32B-89DA-1160-31E6-5B748EABD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ADD50C67-8342-3DCE-AEE1-91004EF73C8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E831EB5C-F431-21F3-51CD-E33990A39DF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9AEFF447-53CF-6961-B5AB-F8E0B300A55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2851F7AF-84B7-5DA2-6B41-761D8FC62C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14/09/2026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F85BDD33-26AF-7DFB-FB52-D3F7CE40A2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E9D31FF0-0C37-E947-9494-8F21ED8BA4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598096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04D1136-B29D-C5EC-9270-6F828FCC99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C3D23F9F-1866-DF11-0A53-018444B725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14/09/2026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27DE2FE5-12D5-59AF-3226-50F61DDD08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72B8593-D8C4-D1C0-3FE2-317B6E87E3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471617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9C61EC05-99BC-030C-81E0-758E2EB4AB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14/09/2026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5298EB90-5D48-54B2-47D2-D6F9BE96D1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3830089-C919-9CAE-498B-AAA120AA94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380629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23839C6-2C2B-1F0C-5D7A-C54E626A33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CA82DF2-C8B2-6724-3254-E2A4E8C189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45A7ACB0-0484-15F2-85D7-026268042A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474C68C-FCDD-860A-F1F8-6E9D2B2E0D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14/09/2026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DEAC4B5B-E64A-629F-D002-6D3AC3D297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17E13F2-B174-08B8-2D4E-D9FE4B1F54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869953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4FE9A32-52AE-EEF7-C729-36AC4499CE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B3C3A4AC-1EFE-5428-F37E-D940A074844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748CBC4C-38D2-C904-CF15-752F5359D7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539F71C-1DCD-274B-4BBA-0E00334248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14/09/2026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0D24098-5980-21A9-901A-6647E45E50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C9A77E6-59CB-3D6E-6FDB-3E114FD23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982775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D2A1DC7-F506-8E98-C42E-BA1D11222A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A904C793-71A5-129F-70AD-6819995CE7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62D5F24-B75F-A9F7-A30B-FB07DAA829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14/09/2026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15AD9AB-D11E-32F0-D3F0-4E4CC44933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EDD0C63-7BC0-8F01-1D70-31280F466D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150433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2123AE3C-0005-07C9-224A-3F7F4FCF27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581E6B87-64E1-ED1C-3835-E41AA3105D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7D665B4-7AE4-2EBD-4809-10B120963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14/09/2026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B3ED578-80DF-B547-C444-3C97666861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8B776DE-B6B0-DE59-E4FC-FE20714E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857116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676281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EF6881F4-BA15-2739-75B7-BD4D9B511A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E6DDC8D-77A8-13E0-E103-683EC960FE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1C815D9-F433-6AB2-E24C-F6B2F03A9F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2E7F8B9-DFDB-4965-877D-C04A580740C9}" type="datetimeFigureOut">
              <a:rPr lang="fr-FR" smtClean="0"/>
              <a:t>14/09/2026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2830845-4AE2-639F-0CE3-DB6205E790F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18AD715-CCB9-24A8-5E95-5B75D628D4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871377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7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A72A99C-E15F-6CD3-39F4-5747E50DB9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93485" y="2581845"/>
            <a:ext cx="8805030" cy="1655762"/>
          </a:xfrm>
        </p:spPr>
        <p:txBody>
          <a:bodyPr anchor="t">
            <a:normAutofit/>
          </a:bodyPr>
          <a:lstStyle/>
          <a:p>
            <a:r>
              <a:rPr lang="fr-FR" sz="3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3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nom_projet</a:t>
            </a:r>
            <a:r>
              <a:rPr lang="fr-FR" sz="3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93E938B3-38C3-2BDF-45FF-A415208A80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528737"/>
            <a:ext cx="9144000" cy="1655762"/>
          </a:xfrm>
        </p:spPr>
        <p:txBody>
          <a:bodyPr>
            <a:normAutofit/>
          </a:bodyPr>
          <a:lstStyle/>
          <a:p>
            <a:r>
              <a:rPr lang="fr-FR" sz="16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commune_projet</a:t>
            </a:r>
            <a:r>
              <a:rPr lang="fr-FR" sz="16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 ({{</a:t>
            </a:r>
            <a:r>
              <a:rPr lang="fr-FR" sz="16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code_postal_projet</a:t>
            </a:r>
            <a:r>
              <a:rPr lang="fr-FR" sz="16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}})</a:t>
            </a:r>
          </a:p>
          <a:p>
            <a:r>
              <a:rPr lang="fr-FR" sz="16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adresse_projet</a:t>
            </a:r>
            <a:r>
              <a:rPr lang="fr-FR" sz="16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pic>
        <p:nvPicPr>
          <p:cNvPr id="4" name="Picture 2" descr="L'agence de la transition écologique - ADEME">
            <a:extLst>
              <a:ext uri="{FF2B5EF4-FFF2-40B4-BE49-F238E27FC236}">
                <a16:creationId xmlns:a16="http://schemas.microsoft.com/office/drawing/2014/main" id="{B6E6D3F6-9BA9-58C1-F95E-4564406792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189" y="193063"/>
            <a:ext cx="777534" cy="916916"/>
          </a:xfrm>
          <a:prstGeom prst="rect">
            <a:avLst/>
          </a:prstGeom>
        </p:spPr>
      </p:pic>
      <p:sp>
        <p:nvSpPr>
          <p:cNvPr id="6" name="Text 10">
            <a:extLst>
              <a:ext uri="{FF2B5EF4-FFF2-40B4-BE49-F238E27FC236}">
                <a16:creationId xmlns:a16="http://schemas.microsoft.com/office/drawing/2014/main" id="{8CD713CB-3BC6-C09D-7C54-788D2169DE28}"/>
              </a:ext>
            </a:extLst>
          </p:cNvPr>
          <p:cNvSpPr/>
          <p:nvPr/>
        </p:nvSpPr>
        <p:spPr>
          <a:xfrm>
            <a:off x="2072640" y="6385100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Projet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généré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le {{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date_generation_synthese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 via Plus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fraîche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ma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ville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(ADEME)</a:t>
            </a:r>
            <a:endParaRPr lang="en-US" sz="1000" dirty="0">
              <a:latin typeface="Marianne" panose="02000000000000000000" pitchFamily="50" charset="0"/>
            </a:endParaRPr>
          </a:p>
        </p:txBody>
      </p:sp>
      <p:pic>
        <p:nvPicPr>
          <p:cNvPr id="7" name="Picture 3">
            <a:extLst>
              <a:ext uri="{FF2B5EF4-FFF2-40B4-BE49-F238E27FC236}">
                <a16:creationId xmlns:a16="http://schemas.microsoft.com/office/drawing/2014/main" id="{76322E58-8C9F-63C6-0CAF-9FBB079031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75360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CEECE-80BD-24F5-29ED-51D02A8DC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2CE7C914-9BAE-BFF2-E2E6-8DFEAA338D00}"/>
              </a:ext>
            </a:extLst>
          </p:cNvPr>
          <p:cNvSpPr/>
          <p:nvPr/>
        </p:nvSpPr>
        <p:spPr>
          <a:xfrm>
            <a:off x="609600" y="975360"/>
            <a:ext cx="10972800" cy="1950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13333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AA7DA23-AC46-53C2-5481-F11CF1FF75EA}"/>
              </a:ext>
            </a:extLst>
          </p:cNvPr>
          <p:cNvSpPr/>
          <p:nvPr/>
        </p:nvSpPr>
        <p:spPr>
          <a:xfrm>
            <a:off x="609600" y="2202220"/>
            <a:ext cx="109728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Solutions de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rafraîchissement</a:t>
            </a:r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retenues</a:t>
            </a:r>
            <a:endParaRPr lang="en-US" sz="3733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02F78CA-65FF-9043-6070-1584BC6D4D54}"/>
              </a:ext>
            </a:extLst>
          </p:cNvPr>
          <p:cNvSpPr/>
          <p:nvPr/>
        </p:nvSpPr>
        <p:spPr>
          <a:xfrm>
            <a:off x="609600" y="3080044"/>
            <a:ext cx="731520" cy="4876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fr-FR" sz="24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328B9A3-CC8F-11E9-FAB1-0824EF7E88D7}"/>
              </a:ext>
            </a:extLst>
          </p:cNvPr>
          <p:cNvSpPr/>
          <p:nvPr/>
        </p:nvSpPr>
        <p:spPr>
          <a:xfrm>
            <a:off x="609600" y="3398401"/>
            <a:ext cx="10972800" cy="2879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>
                <a:solidFill>
                  <a:srgbClr val="5C5C5C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titre_fiches_solution</a:t>
            </a:r>
            <a:r>
              <a:rPr lang="fr-FR" sz="1600" dirty="0">
                <a:solidFill>
                  <a:srgbClr val="5C5C5C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cxnSp>
        <p:nvCxnSpPr>
          <p:cNvPr id="2" name="Connecteur droit 1">
            <a:extLst>
              <a:ext uri="{FF2B5EF4-FFF2-40B4-BE49-F238E27FC236}">
                <a16:creationId xmlns:a16="http://schemas.microsoft.com/office/drawing/2014/main" id="{A3CAC41A-66B0-361D-B372-62D87EE7A9F8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 3">
            <a:extLst>
              <a:ext uri="{FF2B5EF4-FFF2-40B4-BE49-F238E27FC236}">
                <a16:creationId xmlns:a16="http://schemas.microsoft.com/office/drawing/2014/main" id="{515558A7-65FA-3B23-4336-CA7CF66783E3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fraîche ma ville (ADEME)</a:t>
            </a:r>
            <a:endParaRPr lang="en-US" sz="10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9" name="Image 8" descr="Une image contenant Police, Graphique, logo, graphisme&#10;&#10;Description générée automatiquement">
            <a:extLst>
              <a:ext uri="{FF2B5EF4-FFF2-40B4-BE49-F238E27FC236}">
                <a16:creationId xmlns:a16="http://schemas.microsoft.com/office/drawing/2014/main" id="{5FA40CA5-18D5-ABCF-9EE1-BF9C0AE210F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9804" b="18118"/>
          <a:stretch/>
        </p:blipFill>
        <p:spPr>
          <a:xfrm>
            <a:off x="10763987" y="98854"/>
            <a:ext cx="1229053" cy="76297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922595D-B49E-4187-3566-440EF1D1B5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57081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17CAA9-6ECD-8F49-8289-13579AAE1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74A7BA3-D950-9097-DDDD-F688CBFCCB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263" y="345395"/>
            <a:ext cx="10031656" cy="61529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Solution {{</a:t>
            </a:r>
            <a:r>
              <a:rPr lang="en-US" sz="32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n°_solution</a:t>
            </a:r>
            <a:r>
              <a:rPr lang="en-US" sz="32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 : {{</a:t>
            </a:r>
            <a:r>
              <a:rPr lang="en-US" sz="32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titre_fiche_solution</a:t>
            </a:r>
            <a:r>
              <a:rPr lang="en-US" sz="32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C76718D3-101C-1B45-FD71-3691F60DE7E5}"/>
              </a:ext>
            </a:extLst>
          </p:cNvPr>
          <p:cNvSpPr txBox="1"/>
          <p:nvPr/>
        </p:nvSpPr>
        <p:spPr>
          <a:xfrm>
            <a:off x="576263" y="1093598"/>
            <a:ext cx="970698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b="1" dirty="0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2000" b="1" dirty="0" err="1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description_courte_fiche_solution</a:t>
            </a:r>
            <a:r>
              <a:rPr lang="fr-FR" sz="2000" b="1" dirty="0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fr-FR" sz="2000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34" name="Connecteur droit 33">
            <a:extLst>
              <a:ext uri="{FF2B5EF4-FFF2-40B4-BE49-F238E27FC236}">
                <a16:creationId xmlns:a16="http://schemas.microsoft.com/office/drawing/2014/main" id="{B62F42A1-9E9E-D546-190A-5C7D09368113}"/>
              </a:ext>
            </a:extLst>
          </p:cNvPr>
          <p:cNvCxnSpPr>
            <a:cxnSpLocks/>
          </p:cNvCxnSpPr>
          <p:nvPr/>
        </p:nvCxnSpPr>
        <p:spPr>
          <a:xfrm>
            <a:off x="576263" y="960689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 16">
            <a:extLst>
              <a:ext uri="{FF2B5EF4-FFF2-40B4-BE49-F238E27FC236}">
                <a16:creationId xmlns:a16="http://schemas.microsoft.com/office/drawing/2014/main" id="{A300427D-EA15-7150-EA9C-A87450E6202D}"/>
              </a:ext>
            </a:extLst>
          </p:cNvPr>
          <p:cNvSpPr/>
          <p:nvPr/>
        </p:nvSpPr>
        <p:spPr>
          <a:xfrm>
            <a:off x="712188" y="3920740"/>
            <a:ext cx="2220756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Mise </a:t>
            </a:r>
            <a:r>
              <a:rPr lang="en-US" b="1" kern="0" spc="15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en</a:t>
            </a:r>
            <a:r>
              <a:rPr lang="en-US" b="1" kern="0" spc="15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oeuvre</a:t>
            </a:r>
            <a:endParaRPr lang="en-US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4" name="Text 16">
            <a:extLst>
              <a:ext uri="{FF2B5EF4-FFF2-40B4-BE49-F238E27FC236}">
                <a16:creationId xmlns:a16="http://schemas.microsoft.com/office/drawing/2014/main" id="{E91C9383-E765-31FC-91C1-919BA413B245}"/>
              </a:ext>
            </a:extLst>
          </p:cNvPr>
          <p:cNvSpPr/>
          <p:nvPr/>
        </p:nvSpPr>
        <p:spPr>
          <a:xfrm>
            <a:off x="712188" y="1986268"/>
            <a:ext cx="2220756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Résultat</a:t>
            </a:r>
            <a:r>
              <a:rPr lang="en-US" b="1" kern="0" spc="15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b="1" kern="0" spc="15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attendu</a:t>
            </a:r>
            <a:endParaRPr lang="en-US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5" name="Text 16">
            <a:extLst>
              <a:ext uri="{FF2B5EF4-FFF2-40B4-BE49-F238E27FC236}">
                <a16:creationId xmlns:a16="http://schemas.microsoft.com/office/drawing/2014/main" id="{4F281405-7CF6-3385-6A40-21850D059F03}"/>
              </a:ext>
            </a:extLst>
          </p:cNvPr>
          <p:cNvSpPr/>
          <p:nvPr/>
        </p:nvSpPr>
        <p:spPr>
          <a:xfrm>
            <a:off x="7608819" y="1980325"/>
            <a:ext cx="2220756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Cobénéfices</a:t>
            </a:r>
            <a:endParaRPr lang="en-US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BFBD2EB6-34B6-54D8-319B-95BBA847CB21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 3">
            <a:extLst>
              <a:ext uri="{FF2B5EF4-FFF2-40B4-BE49-F238E27FC236}">
                <a16:creationId xmlns:a16="http://schemas.microsoft.com/office/drawing/2014/main" id="{8B657D20-7F9C-8851-0BA6-B35DF1DB8D17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fraîche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ma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ville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(ADEME)</a:t>
            </a:r>
            <a:endParaRPr lang="en-US" sz="1000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7" name="Image 56" descr="Une image contenant Police, Graphique, logo, graphisme&#10;&#10;Description générée automatiquement">
            <a:extLst>
              <a:ext uri="{FF2B5EF4-FFF2-40B4-BE49-F238E27FC236}">
                <a16:creationId xmlns:a16="http://schemas.microsoft.com/office/drawing/2014/main" id="{830EBC68-A5C6-15CA-95C1-839F0A7C9BA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9804" b="18118"/>
          <a:stretch/>
        </p:blipFill>
        <p:spPr>
          <a:xfrm>
            <a:off x="10763987" y="98854"/>
            <a:ext cx="1229053" cy="76297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D131FE9-968A-7934-D330-1035AA73A3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283396D7-68F3-FCA6-1DDE-493C9D9A712C}"/>
              </a:ext>
            </a:extLst>
          </p:cNvPr>
          <p:cNvSpPr txBox="1"/>
          <p:nvPr/>
        </p:nvSpPr>
        <p:spPr>
          <a:xfrm>
            <a:off x="762150" y="4370216"/>
            <a:ext cx="10061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Coût :</a:t>
            </a:r>
            <a:endParaRPr lang="fr-FR" sz="1600" dirty="0">
              <a:solidFill>
                <a:schemeClr val="tx1">
                  <a:lumMod val="65000"/>
                  <a:lumOff val="35000"/>
                </a:schemeClr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3FECE4F3-532A-E644-8E92-8968D648D6B8}"/>
              </a:ext>
            </a:extLst>
          </p:cNvPr>
          <p:cNvSpPr txBox="1"/>
          <p:nvPr/>
        </p:nvSpPr>
        <p:spPr>
          <a:xfrm>
            <a:off x="2860182" y="2347002"/>
            <a:ext cx="1861606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b="1" dirty="0">
                <a:solidFill>
                  <a:srgbClr val="00206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4000" b="1" dirty="0" err="1">
                <a:solidFill>
                  <a:srgbClr val="00206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baisse_temperature</a:t>
            </a:r>
            <a:r>
              <a:rPr lang="fr-FR" sz="4000" b="1" dirty="0">
                <a:solidFill>
                  <a:srgbClr val="00206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pic>
        <p:nvPicPr>
          <p:cNvPr id="8" name="picto_thermometre_baisse_temperature">
            <a:extLst>
              <a:ext uri="{FF2B5EF4-FFF2-40B4-BE49-F238E27FC236}">
                <a16:creationId xmlns:a16="http://schemas.microsoft.com/office/drawing/2014/main" id="{8C67CD90-FD6F-D29F-C16C-E1B92E89FA2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047922" y="2349530"/>
            <a:ext cx="705591" cy="705591"/>
          </a:xfrm>
          <a:prstGeom prst="rect">
            <a:avLst/>
          </a:prstGeom>
        </p:spPr>
      </p:pic>
      <p:sp>
        <p:nvSpPr>
          <p:cNvPr id="9" name="ZoneTexte 8">
            <a:extLst>
              <a:ext uri="{FF2B5EF4-FFF2-40B4-BE49-F238E27FC236}">
                <a16:creationId xmlns:a16="http://schemas.microsoft.com/office/drawing/2014/main" id="{AB5B274F-E9FF-9A65-B0B2-04647105098D}"/>
              </a:ext>
            </a:extLst>
          </p:cNvPr>
          <p:cNvSpPr txBox="1"/>
          <p:nvPr/>
        </p:nvSpPr>
        <p:spPr>
          <a:xfrm>
            <a:off x="8085069" y="2634521"/>
            <a:ext cx="396332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{{cobenefice_1}}</a:t>
            </a:r>
          </a:p>
        </p:txBody>
      </p:sp>
      <p:pic>
        <p:nvPicPr>
          <p:cNvPr id="14" name="picto_cobenefice_1">
            <a:extLst>
              <a:ext uri="{FF2B5EF4-FFF2-40B4-BE49-F238E27FC236}">
                <a16:creationId xmlns:a16="http://schemas.microsoft.com/office/drawing/2014/main" id="{2FEA33B3-62EC-E03E-7518-CBD2AC6E887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608819" y="2581828"/>
            <a:ext cx="476250" cy="476250"/>
          </a:xfrm>
          <a:prstGeom prst="rect">
            <a:avLst/>
          </a:prstGeom>
        </p:spPr>
      </p:pic>
      <p:pic>
        <p:nvPicPr>
          <p:cNvPr id="15" name="picto_cobenefice_2">
            <a:extLst>
              <a:ext uri="{FF2B5EF4-FFF2-40B4-BE49-F238E27FC236}">
                <a16:creationId xmlns:a16="http://schemas.microsoft.com/office/drawing/2014/main" id="{5292CE92-124B-25A8-3225-A8AFFD52FA2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608819" y="3167539"/>
            <a:ext cx="476250" cy="476250"/>
          </a:xfrm>
          <a:prstGeom prst="rect">
            <a:avLst/>
          </a:prstGeom>
        </p:spPr>
      </p:pic>
      <p:pic>
        <p:nvPicPr>
          <p:cNvPr id="16" name="picto_cobenefice_3">
            <a:extLst>
              <a:ext uri="{FF2B5EF4-FFF2-40B4-BE49-F238E27FC236}">
                <a16:creationId xmlns:a16="http://schemas.microsoft.com/office/drawing/2014/main" id="{EB604EA7-19BC-0A29-A1C9-A41A8F70BBE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608819" y="3751413"/>
            <a:ext cx="476250" cy="476250"/>
          </a:xfrm>
          <a:prstGeom prst="rect">
            <a:avLst/>
          </a:prstGeom>
        </p:spPr>
      </p:pic>
      <p:pic>
        <p:nvPicPr>
          <p:cNvPr id="17" name="picto_cobenefice_4">
            <a:extLst>
              <a:ext uri="{FF2B5EF4-FFF2-40B4-BE49-F238E27FC236}">
                <a16:creationId xmlns:a16="http://schemas.microsoft.com/office/drawing/2014/main" id="{B955E77A-B575-62DE-0057-A6323AB3469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608819" y="4335287"/>
            <a:ext cx="476250" cy="476250"/>
          </a:xfrm>
          <a:prstGeom prst="rect">
            <a:avLst/>
          </a:prstGeom>
        </p:spPr>
      </p:pic>
      <p:pic>
        <p:nvPicPr>
          <p:cNvPr id="18" name="picto_cobenefice_5">
            <a:extLst>
              <a:ext uri="{FF2B5EF4-FFF2-40B4-BE49-F238E27FC236}">
                <a16:creationId xmlns:a16="http://schemas.microsoft.com/office/drawing/2014/main" id="{ED99FFA0-EC34-5D0F-6353-D7419BAFD0D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614109" y="4919161"/>
            <a:ext cx="476250" cy="476250"/>
          </a:xfrm>
          <a:prstGeom prst="rect">
            <a:avLst/>
          </a:prstGeom>
        </p:spPr>
      </p:pic>
      <p:sp>
        <p:nvSpPr>
          <p:cNvPr id="19" name="ZoneTexte 18">
            <a:extLst>
              <a:ext uri="{FF2B5EF4-FFF2-40B4-BE49-F238E27FC236}">
                <a16:creationId xmlns:a16="http://schemas.microsoft.com/office/drawing/2014/main" id="{6D631D5E-D07D-9DAE-EAC3-1A5DD2833A15}"/>
              </a:ext>
            </a:extLst>
          </p:cNvPr>
          <p:cNvSpPr txBox="1"/>
          <p:nvPr/>
        </p:nvSpPr>
        <p:spPr>
          <a:xfrm>
            <a:off x="8085069" y="3225817"/>
            <a:ext cx="396332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{{cobenefice_2}}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11E5E33C-8CFC-334B-4593-E730FD9EA6B7}"/>
              </a:ext>
            </a:extLst>
          </p:cNvPr>
          <p:cNvSpPr txBox="1"/>
          <p:nvPr/>
        </p:nvSpPr>
        <p:spPr>
          <a:xfrm>
            <a:off x="8082875" y="3804872"/>
            <a:ext cx="396332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{{cobenefice_3}}</a:t>
            </a:r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C7B5A477-60D1-C184-143E-F283CFF41D85}"/>
              </a:ext>
            </a:extLst>
          </p:cNvPr>
          <p:cNvSpPr txBox="1"/>
          <p:nvPr/>
        </p:nvSpPr>
        <p:spPr>
          <a:xfrm>
            <a:off x="8090359" y="4383927"/>
            <a:ext cx="396332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{{cobenefice_4}}</a:t>
            </a:r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3E0B2B88-CCE4-F3AD-BB3A-53328832BC06}"/>
              </a:ext>
            </a:extLst>
          </p:cNvPr>
          <p:cNvSpPr txBox="1"/>
          <p:nvPr/>
        </p:nvSpPr>
        <p:spPr>
          <a:xfrm>
            <a:off x="8082875" y="4977224"/>
            <a:ext cx="396332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{{cobenefice_5}}</a:t>
            </a:r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B8474404-E488-86F0-E047-048FC0C9776E}"/>
              </a:ext>
            </a:extLst>
          </p:cNvPr>
          <p:cNvSpPr txBox="1"/>
          <p:nvPr/>
        </p:nvSpPr>
        <p:spPr>
          <a:xfrm>
            <a:off x="762151" y="2395650"/>
            <a:ext cx="199403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portee_baisse_temperature</a:t>
            </a:r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fr-FR" sz="1500" dirty="0">
              <a:solidFill>
                <a:schemeClr val="tx1">
                  <a:lumMod val="65000"/>
                  <a:lumOff val="35000"/>
                </a:schemeClr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fr-FR" sz="1600" dirty="0">
              <a:solidFill>
                <a:schemeClr val="tx1">
                  <a:lumMod val="65000"/>
                  <a:lumOff val="35000"/>
                </a:schemeClr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85DCA6C4-87A6-9194-C19C-D27B78EB3AD6}"/>
              </a:ext>
            </a:extLst>
          </p:cNvPr>
          <p:cNvSpPr txBox="1"/>
          <p:nvPr/>
        </p:nvSpPr>
        <p:spPr>
          <a:xfrm>
            <a:off x="754274" y="4853531"/>
            <a:ext cx="229364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Délai des travaux :</a:t>
            </a:r>
            <a:endParaRPr lang="fr-FR" sz="1600" dirty="0">
              <a:solidFill>
                <a:schemeClr val="tx1">
                  <a:lumMod val="65000"/>
                  <a:lumOff val="35000"/>
                </a:schemeClr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032C04B6-E4A2-36FB-8482-DEAEE2233EC0}"/>
              </a:ext>
            </a:extLst>
          </p:cNvPr>
          <p:cNvSpPr txBox="1"/>
          <p:nvPr/>
        </p:nvSpPr>
        <p:spPr>
          <a:xfrm>
            <a:off x="2884517" y="4877899"/>
            <a:ext cx="260990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delai_fiche_solution</a:t>
            </a:r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608F7C5C-B2A7-E255-DC57-2AE0D978AD00}"/>
              </a:ext>
            </a:extLst>
          </p:cNvPr>
          <p:cNvSpPr txBox="1"/>
          <p:nvPr/>
        </p:nvSpPr>
        <p:spPr>
          <a:xfrm>
            <a:off x="1491713" y="4386098"/>
            <a:ext cx="381444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cout_fiche_solution</a:t>
            </a:r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4524056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BD765A-1FEE-159F-96BA-777FDEE395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ZoneTexte 6">
            <a:extLst>
              <a:ext uri="{FF2B5EF4-FFF2-40B4-BE49-F238E27FC236}">
                <a16:creationId xmlns:a16="http://schemas.microsoft.com/office/drawing/2014/main" id="{C0EAF12D-1845-9AB2-8AD7-7633BEE55E07}"/>
              </a:ext>
            </a:extLst>
          </p:cNvPr>
          <p:cNvSpPr txBox="1"/>
          <p:nvPr/>
        </p:nvSpPr>
        <p:spPr>
          <a:xfrm>
            <a:off x="576263" y="1137583"/>
            <a:ext cx="1018772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i="0" dirty="0">
                <a:solidFill>
                  <a:srgbClr val="161616"/>
                </a:solidFill>
                <a:effectLst/>
                <a:latin typeface="Marianne" panose="02000000000000000000" pitchFamily="50" charset="0"/>
              </a:rPr>
              <a:t>Équipements, matériaux et systèmes retenus pour le projet {{</a:t>
            </a:r>
            <a:r>
              <a:rPr lang="fr-FR" b="1" i="0" dirty="0" err="1">
                <a:solidFill>
                  <a:srgbClr val="161616"/>
                </a:solidFill>
                <a:effectLst/>
                <a:latin typeface="Marianne" panose="02000000000000000000" pitchFamily="50" charset="0"/>
              </a:rPr>
              <a:t>pagination_solution_materiaux</a:t>
            </a:r>
            <a:r>
              <a:rPr lang="fr-FR" b="1" i="0" dirty="0">
                <a:solidFill>
                  <a:srgbClr val="161616"/>
                </a:solidFill>
                <a:effectLst/>
                <a:latin typeface="Marianne" panose="02000000000000000000" pitchFamily="50" charset="0"/>
              </a:rPr>
              <a:t>}}</a:t>
            </a:r>
            <a:endParaRPr lang="fr-FR" dirty="0">
              <a:latin typeface="Marianne" panose="02000000000000000000" pitchFamily="50" charset="0"/>
            </a:endParaRPr>
          </a:p>
        </p:txBody>
      </p:sp>
      <p:sp>
        <p:nvSpPr>
          <p:cNvPr id="8" name="contour_materiau">
            <a:extLst>
              <a:ext uri="{FF2B5EF4-FFF2-40B4-BE49-F238E27FC236}">
                <a16:creationId xmlns:a16="http://schemas.microsoft.com/office/drawing/2014/main" id="{2B3E358C-F924-2E78-C7EA-F8D6F4DEC5C3}"/>
              </a:ext>
            </a:extLst>
          </p:cNvPr>
          <p:cNvSpPr/>
          <p:nvPr/>
        </p:nvSpPr>
        <p:spPr>
          <a:xfrm>
            <a:off x="958362" y="1914130"/>
            <a:ext cx="932489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8890">
            <a:solidFill>
              <a:srgbClr val="DADADA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>
              <a:latin typeface="Marianne" panose="02000000000000000000" pitchFamily="50" charset="0"/>
            </a:endParaRPr>
          </a:p>
        </p:txBody>
      </p:sp>
      <p:sp>
        <p:nvSpPr>
          <p:cNvPr id="9" name="zone_titre_materiau">
            <a:extLst>
              <a:ext uri="{FF2B5EF4-FFF2-40B4-BE49-F238E27FC236}">
                <a16:creationId xmlns:a16="http://schemas.microsoft.com/office/drawing/2014/main" id="{A88800C3-C9AC-CC70-2E75-A1BBA164B372}"/>
              </a:ext>
            </a:extLst>
          </p:cNvPr>
          <p:cNvSpPr txBox="1"/>
          <p:nvPr/>
        </p:nvSpPr>
        <p:spPr>
          <a:xfrm>
            <a:off x="2360736" y="1974626"/>
            <a:ext cx="605934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b="1" i="0" dirty="0">
                <a:effectLst/>
                <a:latin typeface="Marianne" panose="02000000000000000000" pitchFamily="50" charset="0"/>
              </a:rPr>
              <a:t>{{</a:t>
            </a:r>
            <a:r>
              <a:rPr lang="fr-FR" sz="1400" b="1" i="0" dirty="0" err="1">
                <a:effectLst/>
                <a:latin typeface="Marianne" panose="02000000000000000000" pitchFamily="50" charset="0"/>
              </a:rPr>
              <a:t>titre_materiau</a:t>
            </a:r>
            <a:r>
              <a:rPr lang="fr-FR" sz="1400" b="1" i="0" dirty="0">
                <a:effectLst/>
                <a:latin typeface="Marianne" panose="02000000000000000000" pitchFamily="50" charset="0"/>
              </a:rPr>
              <a:t>}}</a:t>
            </a:r>
            <a:endParaRPr lang="fr-FR" sz="1400" b="1" dirty="0">
              <a:latin typeface="Marianne" panose="02000000000000000000" pitchFamily="50" charset="0"/>
            </a:endParaRPr>
          </a:p>
        </p:txBody>
      </p:sp>
      <p:sp>
        <p:nvSpPr>
          <p:cNvPr id="10" name="zone_quantite_materiau">
            <a:extLst>
              <a:ext uri="{FF2B5EF4-FFF2-40B4-BE49-F238E27FC236}">
                <a16:creationId xmlns:a16="http://schemas.microsoft.com/office/drawing/2014/main" id="{99178690-04DD-6BBB-B2F6-1E672F23CAA3}"/>
              </a:ext>
            </a:extLst>
          </p:cNvPr>
          <p:cNvSpPr/>
          <p:nvPr/>
        </p:nvSpPr>
        <p:spPr>
          <a:xfrm>
            <a:off x="8256494" y="1974626"/>
            <a:ext cx="1908065" cy="3077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{{</a:t>
            </a:r>
            <a:r>
              <a:rPr lang="en-US" sz="1300" b="1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quantite_materiau</a:t>
            </a:r>
            <a:r>
              <a:rPr lang="en-US" sz="1300" b="1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300" dirty="0">
              <a:latin typeface="Marianne" panose="02000000000000000000" pitchFamily="50" charset="0"/>
            </a:endParaRPr>
          </a:p>
        </p:txBody>
      </p:sp>
      <p:pic>
        <p:nvPicPr>
          <p:cNvPr id="15" name="image_materiau" descr="Une image contenant sol, plein air, bâtiment, propriété&#10;&#10;Description générée automatiquement">
            <a:extLst>
              <a:ext uri="{FF2B5EF4-FFF2-40B4-BE49-F238E27FC236}">
                <a16:creationId xmlns:a16="http://schemas.microsoft.com/office/drawing/2014/main" id="{6FE81792-B99E-A1A7-6F71-0CC62F608A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5554" y="2108376"/>
            <a:ext cx="876038" cy="902585"/>
          </a:xfrm>
          <a:prstGeom prst="rect">
            <a:avLst/>
          </a:prstGeom>
        </p:spPr>
      </p:pic>
      <p:sp>
        <p:nvSpPr>
          <p:cNvPr id="17" name="zone_description_materiau">
            <a:extLst>
              <a:ext uri="{FF2B5EF4-FFF2-40B4-BE49-F238E27FC236}">
                <a16:creationId xmlns:a16="http://schemas.microsoft.com/office/drawing/2014/main" id="{E402B53A-5129-3D25-265B-DC4D2781533E}"/>
              </a:ext>
            </a:extLst>
          </p:cNvPr>
          <p:cNvSpPr txBox="1"/>
          <p:nvPr/>
        </p:nvSpPr>
        <p:spPr>
          <a:xfrm>
            <a:off x="2360736" y="2238962"/>
            <a:ext cx="7173528" cy="292388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fr-FR" sz="1300" dirty="0">
                <a:latin typeface="Marianne" panose="02000000000000000000" pitchFamily="50" charset="0"/>
              </a:rPr>
              <a:t>{{</a:t>
            </a:r>
            <a:r>
              <a:rPr lang="fr-FR" sz="1300" dirty="0" err="1">
                <a:latin typeface="Marianne" panose="02000000000000000000" pitchFamily="50" charset="0"/>
              </a:rPr>
              <a:t>description_materiau</a:t>
            </a:r>
            <a:r>
              <a:rPr lang="fr-FR" sz="1300" dirty="0">
                <a:latin typeface="Marianne" panose="02000000000000000000" pitchFamily="50" charset="0"/>
              </a:rPr>
              <a:t>}}</a:t>
            </a:r>
          </a:p>
        </p:txBody>
      </p:sp>
      <p:sp>
        <p:nvSpPr>
          <p:cNvPr id="19" name="zone_cout_materiau">
            <a:extLst>
              <a:ext uri="{FF2B5EF4-FFF2-40B4-BE49-F238E27FC236}">
                <a16:creationId xmlns:a16="http://schemas.microsoft.com/office/drawing/2014/main" id="{79E9B9CA-0F08-3137-64D1-50FFF50EA47E}"/>
              </a:ext>
            </a:extLst>
          </p:cNvPr>
          <p:cNvSpPr txBox="1"/>
          <p:nvPr/>
        </p:nvSpPr>
        <p:spPr>
          <a:xfrm>
            <a:off x="2360736" y="2874034"/>
            <a:ext cx="71885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2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Investissement</a:t>
            </a: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: {{</a:t>
            </a:r>
            <a:r>
              <a:rPr lang="en-US" sz="12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cout_investissement_materiau</a:t>
            </a: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 · Entretien : {{</a:t>
            </a:r>
            <a:r>
              <a:rPr lang="en-US" sz="12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cout_entretien_materiau</a:t>
            </a: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200" dirty="0">
              <a:latin typeface="Marianne" panose="02000000000000000000" pitchFamily="50" charset="0"/>
            </a:endParaRPr>
          </a:p>
        </p:txBody>
      </p:sp>
      <p:sp>
        <p:nvSpPr>
          <p:cNvPr id="3" name="Titre 1">
            <a:extLst>
              <a:ext uri="{FF2B5EF4-FFF2-40B4-BE49-F238E27FC236}">
                <a16:creationId xmlns:a16="http://schemas.microsoft.com/office/drawing/2014/main" id="{F82418D9-B39F-2905-A2C1-E7CF651F5D36}"/>
              </a:ext>
            </a:extLst>
          </p:cNvPr>
          <p:cNvSpPr txBox="1">
            <a:spLocks/>
          </p:cNvSpPr>
          <p:nvPr/>
        </p:nvSpPr>
        <p:spPr>
          <a:xfrm>
            <a:off x="576263" y="345395"/>
            <a:ext cx="9706989" cy="6152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Solution {{</a:t>
            </a:r>
            <a:r>
              <a:rPr lang="en-US" sz="32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n°_solution</a:t>
            </a:r>
            <a:r>
              <a:rPr lang="en-US" sz="32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 : {{</a:t>
            </a:r>
            <a:r>
              <a:rPr lang="en-US" sz="32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titre_fiche_solution</a:t>
            </a:r>
            <a:r>
              <a:rPr lang="en-US" sz="32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en-US" sz="3200" dirty="0">
              <a:latin typeface="Marianne" panose="02000000000000000000" pitchFamily="50" charset="0"/>
            </a:endParaRPr>
          </a:p>
        </p:txBody>
      </p:sp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E6F030A1-1132-C9A1-903C-C717603846E0}"/>
              </a:ext>
            </a:extLst>
          </p:cNvPr>
          <p:cNvCxnSpPr>
            <a:cxnSpLocks/>
          </p:cNvCxnSpPr>
          <p:nvPr/>
        </p:nvCxnSpPr>
        <p:spPr>
          <a:xfrm>
            <a:off x="576263" y="960689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Image 13" descr="Une image contenant Police, Graphique, logo, graphisme&#10;&#10;Description générée automatiquement">
            <a:extLst>
              <a:ext uri="{FF2B5EF4-FFF2-40B4-BE49-F238E27FC236}">
                <a16:creationId xmlns:a16="http://schemas.microsoft.com/office/drawing/2014/main" id="{AD69CEB4-74D5-E3C0-685B-527FC6C4A3E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9804" b="18118"/>
          <a:stretch/>
        </p:blipFill>
        <p:spPr>
          <a:xfrm>
            <a:off x="10763987" y="98854"/>
            <a:ext cx="1229053" cy="76297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DFE2676-551D-F9A9-1060-DC00E3F770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97002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CEECE-80BD-24F5-29ED-51D02A8DC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2CE7C914-9BAE-BFF2-E2E6-8DFEAA338D00}"/>
              </a:ext>
            </a:extLst>
          </p:cNvPr>
          <p:cNvSpPr/>
          <p:nvPr/>
        </p:nvSpPr>
        <p:spPr>
          <a:xfrm>
            <a:off x="609600" y="975360"/>
            <a:ext cx="10972800" cy="1950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13333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AA7DA23-AC46-53C2-5481-F11CF1FF75EA}"/>
              </a:ext>
            </a:extLst>
          </p:cNvPr>
          <p:cNvSpPr/>
          <p:nvPr/>
        </p:nvSpPr>
        <p:spPr>
          <a:xfrm>
            <a:off x="609600" y="2202220"/>
            <a:ext cx="109728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Estimation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budgétaire</a:t>
            </a:r>
            <a:endParaRPr lang="en-US" sz="3733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02F78CA-65FF-9043-6070-1584BC6D4D54}"/>
              </a:ext>
            </a:extLst>
          </p:cNvPr>
          <p:cNvSpPr/>
          <p:nvPr/>
        </p:nvSpPr>
        <p:spPr>
          <a:xfrm>
            <a:off x="609600" y="3080044"/>
            <a:ext cx="731520" cy="4876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fr-FR" sz="24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328B9A3-CC8F-11E9-FAB1-0824EF7E88D7}"/>
              </a:ext>
            </a:extLst>
          </p:cNvPr>
          <p:cNvSpPr/>
          <p:nvPr/>
        </p:nvSpPr>
        <p:spPr>
          <a:xfrm>
            <a:off x="609600" y="3398401"/>
            <a:ext cx="10972800" cy="2879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Investissement</a:t>
            </a:r>
            <a:r>
              <a:rPr lang="en-US" sz="16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et </a:t>
            </a:r>
            <a:r>
              <a:rPr lang="en-US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coûts</a:t>
            </a:r>
            <a:r>
              <a:rPr lang="en-US" sz="16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d'entretien</a:t>
            </a:r>
            <a:r>
              <a:rPr lang="en-US" sz="16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annuels</a:t>
            </a:r>
            <a:endParaRPr lang="en-US" sz="1600" dirty="0">
              <a:latin typeface="Marianne" panose="02000000000000000000" pitchFamily="50" charset="0"/>
            </a:endParaRPr>
          </a:p>
        </p:txBody>
      </p:sp>
      <p:cxnSp>
        <p:nvCxnSpPr>
          <p:cNvPr id="2" name="Connecteur droit 1">
            <a:extLst>
              <a:ext uri="{FF2B5EF4-FFF2-40B4-BE49-F238E27FC236}">
                <a16:creationId xmlns:a16="http://schemas.microsoft.com/office/drawing/2014/main" id="{A3CAC41A-66B0-361D-B372-62D87EE7A9F8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 3">
            <a:extLst>
              <a:ext uri="{FF2B5EF4-FFF2-40B4-BE49-F238E27FC236}">
                <a16:creationId xmlns:a16="http://schemas.microsoft.com/office/drawing/2014/main" id="{515558A7-65FA-3B23-4336-CA7CF66783E3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fraîche ma ville (ADEME)</a:t>
            </a:r>
            <a:endParaRPr lang="en-US" sz="10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9" name="Image 8" descr="Une image contenant Police, Graphique, logo, graphisme&#10;&#10;Description générée automatiquement">
            <a:extLst>
              <a:ext uri="{FF2B5EF4-FFF2-40B4-BE49-F238E27FC236}">
                <a16:creationId xmlns:a16="http://schemas.microsoft.com/office/drawing/2014/main" id="{5FA40CA5-18D5-ABCF-9EE1-BF9C0AE210F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9804" b="18118"/>
          <a:stretch/>
        </p:blipFill>
        <p:spPr>
          <a:xfrm>
            <a:off x="10763987" y="98854"/>
            <a:ext cx="1229053" cy="76297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922595D-B49E-4187-3566-440EF1D1B5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00013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BD765A-1FEE-159F-96BA-777FDEE395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bg_recap_estimation_fs">
            <a:extLst>
              <a:ext uri="{FF2B5EF4-FFF2-40B4-BE49-F238E27FC236}">
                <a16:creationId xmlns:a16="http://schemas.microsoft.com/office/drawing/2014/main" id="{6BA12113-ED47-B687-ED73-BF7EB1432512}"/>
              </a:ext>
            </a:extLst>
          </p:cNvPr>
          <p:cNvSpPr/>
          <p:nvPr/>
        </p:nvSpPr>
        <p:spPr>
          <a:xfrm>
            <a:off x="1255554" y="2602517"/>
            <a:ext cx="9765604" cy="66381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Marianne" panose="02000000000000000000" pitchFamily="50" charset="0"/>
            </a:endParaRPr>
          </a:p>
        </p:txBody>
      </p:sp>
      <p:sp>
        <p:nvSpPr>
          <p:cNvPr id="9" name="zone_titre_materiau">
            <a:extLst>
              <a:ext uri="{FF2B5EF4-FFF2-40B4-BE49-F238E27FC236}">
                <a16:creationId xmlns:a16="http://schemas.microsoft.com/office/drawing/2014/main" id="{A88800C3-C9AC-CC70-2E75-A1BBA164B372}"/>
              </a:ext>
            </a:extLst>
          </p:cNvPr>
          <p:cNvSpPr txBox="1"/>
          <p:nvPr/>
        </p:nvSpPr>
        <p:spPr>
          <a:xfrm>
            <a:off x="1865713" y="1529871"/>
            <a:ext cx="559710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b="1" i="0" dirty="0">
                <a:effectLst/>
                <a:latin typeface="Marianne" panose="02000000000000000000" pitchFamily="50" charset="0"/>
              </a:rPr>
              <a:t>{{</a:t>
            </a:r>
            <a:r>
              <a:rPr lang="fr-FR" sz="1200" b="1" i="0" dirty="0" err="1">
                <a:effectLst/>
                <a:latin typeface="Marianne" panose="02000000000000000000" pitchFamily="50" charset="0"/>
              </a:rPr>
              <a:t>titre_materiau</a:t>
            </a:r>
            <a:r>
              <a:rPr lang="fr-FR" sz="1200" b="1" i="0" dirty="0">
                <a:effectLst/>
                <a:latin typeface="Marianne" panose="02000000000000000000" pitchFamily="50" charset="0"/>
              </a:rPr>
              <a:t>}}</a:t>
            </a:r>
            <a:endParaRPr lang="fr-FR" sz="1200" b="1" dirty="0">
              <a:latin typeface="Marianne" panose="02000000000000000000" pitchFamily="50" charset="0"/>
            </a:endParaRPr>
          </a:p>
        </p:txBody>
      </p:sp>
      <p:pic>
        <p:nvPicPr>
          <p:cNvPr id="15" name="image_materiau" descr="Une image contenant sol, plein air, bâtiment, propriété&#10;&#10;Description générée automatiquement">
            <a:extLst>
              <a:ext uri="{FF2B5EF4-FFF2-40B4-BE49-F238E27FC236}">
                <a16:creationId xmlns:a16="http://schemas.microsoft.com/office/drawing/2014/main" id="{6FE81792-B99E-A1A7-6F71-0CC62F608A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3168" y="1575983"/>
            <a:ext cx="462545" cy="476562"/>
          </a:xfrm>
          <a:prstGeom prst="rect">
            <a:avLst/>
          </a:prstGeom>
        </p:spPr>
      </p:pic>
      <p:sp>
        <p:nvSpPr>
          <p:cNvPr id="19" name="zone_cout_materiau">
            <a:extLst>
              <a:ext uri="{FF2B5EF4-FFF2-40B4-BE49-F238E27FC236}">
                <a16:creationId xmlns:a16="http://schemas.microsoft.com/office/drawing/2014/main" id="{79E9B9CA-0F08-3137-64D1-50FFF50EA47E}"/>
              </a:ext>
            </a:extLst>
          </p:cNvPr>
          <p:cNvSpPr txBox="1"/>
          <p:nvPr/>
        </p:nvSpPr>
        <p:spPr>
          <a:xfrm>
            <a:off x="7417711" y="1632102"/>
            <a:ext cx="360344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r">
              <a:buNone/>
            </a:pPr>
            <a:r>
              <a:rPr lang="en-US" sz="12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Investissement</a:t>
            </a: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: {{</a:t>
            </a:r>
            <a:r>
              <a:rPr lang="en-US" sz="12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cout_investissement_materiau</a:t>
            </a: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</a:p>
          <a:p>
            <a:pPr marL="0" indent="0" algn="r">
              <a:buNone/>
            </a:pP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Entretien : {{</a:t>
            </a:r>
            <a:r>
              <a:rPr lang="en-US" sz="12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cout_entretien_materiau</a:t>
            </a: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200" dirty="0">
              <a:latin typeface="Marianne" panose="02000000000000000000" pitchFamily="50" charset="0"/>
            </a:endParaRPr>
          </a:p>
        </p:txBody>
      </p:sp>
      <p:sp>
        <p:nvSpPr>
          <p:cNvPr id="3" name="titre_recap_estimation">
            <a:extLst>
              <a:ext uri="{FF2B5EF4-FFF2-40B4-BE49-F238E27FC236}">
                <a16:creationId xmlns:a16="http://schemas.microsoft.com/office/drawing/2014/main" id="{F82418D9-B39F-2905-A2C1-E7CF651F5D36}"/>
              </a:ext>
            </a:extLst>
          </p:cNvPr>
          <p:cNvSpPr txBox="1">
            <a:spLocks/>
          </p:cNvSpPr>
          <p:nvPr/>
        </p:nvSpPr>
        <p:spPr>
          <a:xfrm>
            <a:off x="576263" y="345395"/>
            <a:ext cx="9706989" cy="6152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Récapitulatif</a:t>
            </a:r>
            <a:r>
              <a:rPr lang="en-US" sz="32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2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budgétaire</a:t>
            </a:r>
            <a:r>
              <a:rPr lang="en-US" sz="32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{{</a:t>
            </a:r>
            <a:r>
              <a:rPr lang="en-US" sz="32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pagination_recap_estimation</a:t>
            </a:r>
            <a:r>
              <a:rPr lang="en-US" sz="32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fr-FR" sz="1200" dirty="0">
              <a:latin typeface="Marianne" panose="02000000000000000000" pitchFamily="50" charset="0"/>
            </a:endParaRPr>
          </a:p>
        </p:txBody>
      </p:sp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E6F030A1-1132-C9A1-903C-C717603846E0}"/>
              </a:ext>
            </a:extLst>
          </p:cNvPr>
          <p:cNvCxnSpPr>
            <a:cxnSpLocks/>
          </p:cNvCxnSpPr>
          <p:nvPr/>
        </p:nvCxnSpPr>
        <p:spPr>
          <a:xfrm>
            <a:off x="576263" y="960689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Image 13" descr="Une image contenant Police, Graphique, logo, graphisme&#10;&#10;Description générée automatiquement">
            <a:extLst>
              <a:ext uri="{FF2B5EF4-FFF2-40B4-BE49-F238E27FC236}">
                <a16:creationId xmlns:a16="http://schemas.microsoft.com/office/drawing/2014/main" id="{AD69CEB4-74D5-E3C0-685B-527FC6C4A3E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9804" b="18118"/>
          <a:stretch/>
        </p:blipFill>
        <p:spPr>
          <a:xfrm>
            <a:off x="10763987" y="98854"/>
            <a:ext cx="1229053" cy="76297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DFE2676-551D-F9A9-1060-DC00E3F770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2" name="zone_titre_fs_recap_estimation">
            <a:extLst>
              <a:ext uri="{FF2B5EF4-FFF2-40B4-BE49-F238E27FC236}">
                <a16:creationId xmlns:a16="http://schemas.microsoft.com/office/drawing/2014/main" id="{B161BF39-D0D2-C1A3-6A29-174F5C4B931B}"/>
              </a:ext>
            </a:extLst>
          </p:cNvPr>
          <p:cNvSpPr txBox="1"/>
          <p:nvPr/>
        </p:nvSpPr>
        <p:spPr>
          <a:xfrm>
            <a:off x="1097293" y="1153414"/>
            <a:ext cx="605934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b="1" i="0" dirty="0">
                <a:effectLst/>
                <a:latin typeface="Marianne" panose="02000000000000000000" pitchFamily="50" charset="0"/>
              </a:rPr>
              <a:t>{{</a:t>
            </a:r>
            <a:r>
              <a:rPr lang="fr-FR" sz="1400" b="1" i="0" dirty="0" err="1">
                <a:effectLst/>
                <a:latin typeface="Marianne" panose="02000000000000000000" pitchFamily="50" charset="0"/>
              </a:rPr>
              <a:t>titre_fiche_solution</a:t>
            </a:r>
            <a:r>
              <a:rPr lang="fr-FR" sz="1400" b="1" i="0" dirty="0">
                <a:effectLst/>
                <a:latin typeface="Marianne" panose="02000000000000000000" pitchFamily="50" charset="0"/>
              </a:rPr>
              <a:t>}}</a:t>
            </a:r>
            <a:endParaRPr lang="fr-FR" sz="1400" b="1" dirty="0">
              <a:latin typeface="Marianne" panose="02000000000000000000" pitchFamily="50" charset="0"/>
            </a:endParaRPr>
          </a:p>
        </p:txBody>
      </p:sp>
      <p:sp>
        <p:nvSpPr>
          <p:cNvPr id="6" name="recap_total_libelles">
            <a:extLst>
              <a:ext uri="{FF2B5EF4-FFF2-40B4-BE49-F238E27FC236}">
                <a16:creationId xmlns:a16="http://schemas.microsoft.com/office/drawing/2014/main" id="{8CF6B5B8-BAD7-E10A-E363-18498172553F}"/>
              </a:ext>
            </a:extLst>
          </p:cNvPr>
          <p:cNvSpPr txBox="1"/>
          <p:nvPr/>
        </p:nvSpPr>
        <p:spPr>
          <a:xfrm>
            <a:off x="6711181" y="4547787"/>
            <a:ext cx="1579966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200" b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Investissement</a:t>
            </a:r>
            <a:r>
              <a:rPr lang="en-US" sz="1200" b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:</a:t>
            </a:r>
          </a:p>
          <a:p>
            <a:pPr marL="0" indent="0">
              <a:buNone/>
            </a:pP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Entretien :</a:t>
            </a:r>
            <a:endParaRPr lang="en-US" sz="1000" dirty="0">
              <a:solidFill>
                <a:schemeClr val="tx1">
                  <a:lumMod val="75000"/>
                  <a:lumOff val="25000"/>
                </a:schemeClr>
              </a:solidFill>
              <a:latin typeface="Marianne" panose="02000000000000000000" pitchFamily="50" charset="0"/>
            </a:endParaRP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7CB1432B-AE88-BC89-B5DC-87807C1FB1A9}"/>
              </a:ext>
            </a:extLst>
          </p:cNvPr>
          <p:cNvSpPr txBox="1"/>
          <p:nvPr/>
        </p:nvSpPr>
        <p:spPr>
          <a:xfrm>
            <a:off x="6918732" y="2680597"/>
            <a:ext cx="3950835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r">
              <a:buNone/>
            </a:pPr>
            <a:r>
              <a:rPr lang="en-US" sz="1200" b="1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{{</a:t>
            </a:r>
            <a:r>
              <a:rPr lang="en-US" sz="1200" b="1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cout_investissement_fiche_solution</a:t>
            </a:r>
            <a:r>
              <a:rPr lang="en-US" sz="1200" b="1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</a:p>
          <a:p>
            <a:pPr marL="0" indent="0" algn="r">
              <a:buNone/>
            </a:pPr>
            <a:r>
              <a:rPr lang="en-US" sz="10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{{</a:t>
            </a:r>
            <a:r>
              <a:rPr lang="en-US" sz="10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cout_entretien_fiche_solution</a:t>
            </a:r>
            <a:r>
              <a:rPr lang="en-US" sz="10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000" dirty="0">
              <a:latin typeface="Marianne" panose="02000000000000000000" pitchFamily="50" charset="0"/>
            </a:endParaRPr>
          </a:p>
        </p:txBody>
      </p:sp>
      <p:sp>
        <p:nvSpPr>
          <p:cNvPr id="13" name="recap_titre">
            <a:extLst>
              <a:ext uri="{FF2B5EF4-FFF2-40B4-BE49-F238E27FC236}">
                <a16:creationId xmlns:a16="http://schemas.microsoft.com/office/drawing/2014/main" id="{821261B6-DEDA-B63E-00A5-C946FA7EEF26}"/>
              </a:ext>
            </a:extLst>
          </p:cNvPr>
          <p:cNvSpPr txBox="1"/>
          <p:nvPr/>
        </p:nvSpPr>
        <p:spPr>
          <a:xfrm>
            <a:off x="1097292" y="3955732"/>
            <a:ext cx="6059347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b="1" i="0" dirty="0">
                <a:effectLst/>
                <a:latin typeface="Marianne" panose="02000000000000000000" pitchFamily="50" charset="0"/>
              </a:rPr>
              <a:t>Estimation totale des solutions envisagées</a:t>
            </a:r>
          </a:p>
          <a:p>
            <a:pPr algn="l"/>
            <a:r>
              <a:rPr lang="fr-FR" sz="1100" b="0" i="0" dirty="0">
                <a:solidFill>
                  <a:srgbClr val="666666"/>
                </a:solidFill>
                <a:effectLst/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Inclut : fourniture et pose (hors travaux complémentaires de voirie, consolidation, etc.)</a:t>
            </a:r>
            <a:r>
              <a:rPr lang="fr-FR" sz="1400" b="1" dirty="0">
                <a:latin typeface="Marianne" panose="02000000000000000000" pitchFamily="50" charset="0"/>
              </a:rPr>
              <a:t> </a:t>
            </a:r>
          </a:p>
        </p:txBody>
      </p:sp>
      <p:sp>
        <p:nvSpPr>
          <p:cNvPr id="16" name="zone_recap_fiche_solution">
            <a:extLst>
              <a:ext uri="{FF2B5EF4-FFF2-40B4-BE49-F238E27FC236}">
                <a16:creationId xmlns:a16="http://schemas.microsoft.com/office/drawing/2014/main" id="{2511F9AC-9A80-85A8-5987-7E6F88547863}"/>
              </a:ext>
            </a:extLst>
          </p:cNvPr>
          <p:cNvSpPr txBox="1"/>
          <p:nvPr/>
        </p:nvSpPr>
        <p:spPr>
          <a:xfrm>
            <a:off x="1377181" y="2718981"/>
            <a:ext cx="3285673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Total </a:t>
            </a:r>
            <a:r>
              <a:rPr lang="en-US" sz="1200" b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Investissement</a:t>
            </a:r>
            <a:endParaRPr lang="en-US" sz="1200" b="1" dirty="0">
              <a:solidFill>
                <a:srgbClr val="2C2C2C"/>
              </a:solidFill>
              <a:latin typeface="Marianne" panose="02000000000000000000" pitchFamily="50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Total Entretien</a:t>
            </a:r>
            <a:endParaRPr lang="en-US" sz="1000" dirty="0">
              <a:solidFill>
                <a:schemeClr val="tx1">
                  <a:lumMod val="75000"/>
                  <a:lumOff val="25000"/>
                </a:schemeClr>
              </a:solidFill>
              <a:latin typeface="Marianne" panose="02000000000000000000" pitchFamily="50" charset="0"/>
            </a:endParaRPr>
          </a:p>
        </p:txBody>
      </p:sp>
      <p:sp>
        <p:nvSpPr>
          <p:cNvPr id="18" name="recap_total_libelles_valeurs">
            <a:extLst>
              <a:ext uri="{FF2B5EF4-FFF2-40B4-BE49-F238E27FC236}">
                <a16:creationId xmlns:a16="http://schemas.microsoft.com/office/drawing/2014/main" id="{09E2F9B4-E5A1-7459-5392-6A6FC53C59B6}"/>
              </a:ext>
            </a:extLst>
          </p:cNvPr>
          <p:cNvSpPr txBox="1"/>
          <p:nvPr/>
        </p:nvSpPr>
        <p:spPr>
          <a:xfrm>
            <a:off x="8093319" y="4547787"/>
            <a:ext cx="2831124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{{</a:t>
            </a:r>
            <a:r>
              <a:rPr lang="en-US" sz="1200" b="1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cout_investissement_estimation</a:t>
            </a:r>
            <a:r>
              <a:rPr lang="en-US" sz="1200" b="1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200" b="1" dirty="0">
              <a:solidFill>
                <a:srgbClr val="2C2C2C"/>
              </a:solidFill>
              <a:latin typeface="Marianne" panose="02000000000000000000" pitchFamily="50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{{</a:t>
            </a:r>
            <a:r>
              <a:rPr lang="en-US" sz="10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cout_enretien_estimation</a:t>
            </a: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000" dirty="0">
              <a:solidFill>
                <a:schemeClr val="tx1">
                  <a:lumMod val="75000"/>
                  <a:lumOff val="25000"/>
                </a:schemeClr>
              </a:solidFill>
              <a:latin typeface="Marianne" panose="02000000000000000000" pitchFamily="50" charset="0"/>
            </a:endParaRPr>
          </a:p>
        </p:txBody>
      </p:sp>
      <p:sp>
        <p:nvSpPr>
          <p:cNvPr id="8" name="zone_quantite_materiau">
            <a:extLst>
              <a:ext uri="{FF2B5EF4-FFF2-40B4-BE49-F238E27FC236}">
                <a16:creationId xmlns:a16="http://schemas.microsoft.com/office/drawing/2014/main" id="{2E3BE4A1-A1C8-70C6-319A-D994B244BC29}"/>
              </a:ext>
            </a:extLst>
          </p:cNvPr>
          <p:cNvSpPr txBox="1"/>
          <p:nvPr/>
        </p:nvSpPr>
        <p:spPr>
          <a:xfrm>
            <a:off x="1865713" y="1824986"/>
            <a:ext cx="559710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000" i="0" dirty="0">
                <a:effectLst/>
                <a:latin typeface="Marianne" panose="02000000000000000000" pitchFamily="50" charset="0"/>
              </a:rPr>
              <a:t>{{</a:t>
            </a:r>
            <a:r>
              <a:rPr lang="fr-FR" sz="1000" i="0" dirty="0" err="1">
                <a:effectLst/>
                <a:latin typeface="Marianne" panose="02000000000000000000" pitchFamily="50" charset="0"/>
              </a:rPr>
              <a:t>quantite_materiau</a:t>
            </a:r>
            <a:r>
              <a:rPr lang="fr-FR" sz="1000" i="0" dirty="0">
                <a:effectLst/>
                <a:latin typeface="Marianne" panose="02000000000000000000" pitchFamily="50" charset="0"/>
              </a:rPr>
              <a:t>}}</a:t>
            </a:r>
            <a:endParaRPr lang="fr-FR" sz="1000" dirty="0">
              <a:latin typeface="Marianne" panose="02000000000000000000" pitchFamily="50" charset="0"/>
            </a:endParaRPr>
          </a:p>
        </p:txBody>
      </p:sp>
      <p:cxnSp>
        <p:nvCxnSpPr>
          <p:cNvPr id="10" name="Connecteur droit 9">
            <a:extLst>
              <a:ext uri="{FF2B5EF4-FFF2-40B4-BE49-F238E27FC236}">
                <a16:creationId xmlns:a16="http://schemas.microsoft.com/office/drawing/2014/main" id="{AC020DFA-7CBC-D296-9C51-4CDB5F6EEA67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 3">
            <a:extLst>
              <a:ext uri="{FF2B5EF4-FFF2-40B4-BE49-F238E27FC236}">
                <a16:creationId xmlns:a16="http://schemas.microsoft.com/office/drawing/2014/main" id="{513ED38C-6EE1-7913-25F4-4C8F7039ADA0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fraîche ma ville (ADEME)</a:t>
            </a:r>
            <a:endParaRPr lang="en-US" sz="10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64386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CEECE-80BD-24F5-29ED-51D02A8DC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2CE7C914-9BAE-BFF2-E2E6-8DFEAA338D00}"/>
              </a:ext>
            </a:extLst>
          </p:cNvPr>
          <p:cNvSpPr/>
          <p:nvPr/>
        </p:nvSpPr>
        <p:spPr>
          <a:xfrm>
            <a:off x="609600" y="975360"/>
            <a:ext cx="10972800" cy="1950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13333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AA7DA23-AC46-53C2-5481-F11CF1FF75EA}"/>
              </a:ext>
            </a:extLst>
          </p:cNvPr>
          <p:cNvSpPr/>
          <p:nvPr/>
        </p:nvSpPr>
        <p:spPr>
          <a:xfrm>
            <a:off x="609600" y="2202220"/>
            <a:ext cx="109728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Ressources</a:t>
            </a:r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utiles</a:t>
            </a:r>
            <a:endParaRPr lang="en-US" sz="3733" dirty="0">
              <a:latin typeface="Marianne" panose="02000000000000000000" pitchFamily="50" charset="0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02F78CA-65FF-9043-6070-1584BC6D4D54}"/>
              </a:ext>
            </a:extLst>
          </p:cNvPr>
          <p:cNvSpPr/>
          <p:nvPr/>
        </p:nvSpPr>
        <p:spPr>
          <a:xfrm>
            <a:off x="609600" y="3080044"/>
            <a:ext cx="731520" cy="4876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fr-FR" sz="24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328B9A3-CC8F-11E9-FAB1-0824EF7E88D7}"/>
              </a:ext>
            </a:extLst>
          </p:cNvPr>
          <p:cNvSpPr/>
          <p:nvPr/>
        </p:nvSpPr>
        <p:spPr>
          <a:xfrm>
            <a:off x="609600" y="3398401"/>
            <a:ext cx="10972800" cy="2879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Documentation </a:t>
            </a:r>
            <a:r>
              <a:rPr lang="en-US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complémentaire</a:t>
            </a:r>
            <a:endParaRPr lang="en-US" sz="1600" dirty="0">
              <a:latin typeface="Marianne" panose="02000000000000000000" pitchFamily="50" charset="0"/>
            </a:endParaRPr>
          </a:p>
        </p:txBody>
      </p:sp>
      <p:cxnSp>
        <p:nvCxnSpPr>
          <p:cNvPr id="2" name="Connecteur droit 1">
            <a:extLst>
              <a:ext uri="{FF2B5EF4-FFF2-40B4-BE49-F238E27FC236}">
                <a16:creationId xmlns:a16="http://schemas.microsoft.com/office/drawing/2014/main" id="{A3CAC41A-66B0-361D-B372-62D87EE7A9F8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 3">
            <a:extLst>
              <a:ext uri="{FF2B5EF4-FFF2-40B4-BE49-F238E27FC236}">
                <a16:creationId xmlns:a16="http://schemas.microsoft.com/office/drawing/2014/main" id="{515558A7-65FA-3B23-4336-CA7CF66783E3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fraîche ma ville (ADEME)</a:t>
            </a:r>
            <a:endParaRPr lang="en-US" sz="10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9" name="Image 8" descr="Une image contenant Police, Graphique, logo, graphisme&#10;&#10;Description générée automatiquement">
            <a:extLst>
              <a:ext uri="{FF2B5EF4-FFF2-40B4-BE49-F238E27FC236}">
                <a16:creationId xmlns:a16="http://schemas.microsoft.com/office/drawing/2014/main" id="{5FA40CA5-18D5-ABCF-9EE1-BF9C0AE210F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9804" b="18118"/>
          <a:stretch/>
        </p:blipFill>
        <p:spPr>
          <a:xfrm>
            <a:off x="10763987" y="98854"/>
            <a:ext cx="1229053" cy="76297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922595D-B49E-4187-3566-440EF1D1B5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86175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17CAA9-6ECD-8F49-8289-13579AAE1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74A7BA3-D950-9097-DDDD-F688CBFCCB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263" y="345395"/>
            <a:ext cx="10031656" cy="61529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 err="1">
                <a:latin typeface="Marianne" panose="02000000000000000000" pitchFamily="50" charset="0"/>
              </a:rPr>
              <a:t>Ressources</a:t>
            </a:r>
            <a:r>
              <a:rPr lang="en-US" sz="3200" dirty="0">
                <a:latin typeface="Marianne" panose="02000000000000000000" pitchFamily="50" charset="0"/>
              </a:rPr>
              <a:t> </a:t>
            </a:r>
            <a:r>
              <a:rPr lang="en-US" sz="3200" dirty="0" err="1">
                <a:latin typeface="Marianne" panose="02000000000000000000" pitchFamily="50" charset="0"/>
              </a:rPr>
              <a:t>utiles</a:t>
            </a:r>
            <a:r>
              <a:rPr lang="en-US" sz="32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{{</a:t>
            </a:r>
            <a:r>
              <a:rPr lang="en-US" sz="32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pagination_ressources_utiles</a:t>
            </a:r>
            <a:r>
              <a:rPr lang="en-US" sz="32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5" name="zone_titre_fiche_solution">
            <a:extLst>
              <a:ext uri="{FF2B5EF4-FFF2-40B4-BE49-F238E27FC236}">
                <a16:creationId xmlns:a16="http://schemas.microsoft.com/office/drawing/2014/main" id="{C76718D3-101C-1B45-FD71-3691F60DE7E5}"/>
              </a:ext>
            </a:extLst>
          </p:cNvPr>
          <p:cNvSpPr txBox="1"/>
          <p:nvPr/>
        </p:nvSpPr>
        <p:spPr>
          <a:xfrm>
            <a:off x="576263" y="1093598"/>
            <a:ext cx="970698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b="1" dirty="0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2000" b="1" dirty="0" err="1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titre_fiche_solution</a:t>
            </a:r>
            <a:r>
              <a:rPr lang="fr-FR" sz="2000" b="1" dirty="0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fr-FR" sz="2000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34" name="Connecteur droit 33">
            <a:extLst>
              <a:ext uri="{FF2B5EF4-FFF2-40B4-BE49-F238E27FC236}">
                <a16:creationId xmlns:a16="http://schemas.microsoft.com/office/drawing/2014/main" id="{B62F42A1-9E9E-D546-190A-5C7D09368113}"/>
              </a:ext>
            </a:extLst>
          </p:cNvPr>
          <p:cNvCxnSpPr>
            <a:cxnSpLocks/>
          </p:cNvCxnSpPr>
          <p:nvPr/>
        </p:nvCxnSpPr>
        <p:spPr>
          <a:xfrm>
            <a:off x="576263" y="960689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BFBD2EB6-34B6-54D8-319B-95BBA847CB21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 3">
            <a:extLst>
              <a:ext uri="{FF2B5EF4-FFF2-40B4-BE49-F238E27FC236}">
                <a16:creationId xmlns:a16="http://schemas.microsoft.com/office/drawing/2014/main" id="{8B657D20-7F9C-8851-0BA6-B35DF1DB8D17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fraîche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ma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ville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(ADEME)</a:t>
            </a:r>
            <a:endParaRPr lang="en-US" sz="1000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7" name="Image 56" descr="Une image contenant Police, Graphique, logo, graphisme&#10;&#10;Description générée automatiquement">
            <a:extLst>
              <a:ext uri="{FF2B5EF4-FFF2-40B4-BE49-F238E27FC236}">
                <a16:creationId xmlns:a16="http://schemas.microsoft.com/office/drawing/2014/main" id="{830EBC68-A5C6-15CA-95C1-839F0A7C9BA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9804" b="18118"/>
          <a:stretch/>
        </p:blipFill>
        <p:spPr>
          <a:xfrm>
            <a:off x="10763987" y="98854"/>
            <a:ext cx="1229053" cy="76297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D131FE9-968A-7934-D330-1035AA73A3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7" name="zone_ressources_fiche_solution">
            <a:extLst>
              <a:ext uri="{FF2B5EF4-FFF2-40B4-BE49-F238E27FC236}">
                <a16:creationId xmlns:a16="http://schemas.microsoft.com/office/drawing/2014/main" id="{67927841-950D-B96E-D880-93E461963945}"/>
              </a:ext>
            </a:extLst>
          </p:cNvPr>
          <p:cNvSpPr txBox="1"/>
          <p:nvPr/>
        </p:nvSpPr>
        <p:spPr>
          <a:xfrm>
            <a:off x="839464" y="1626616"/>
            <a:ext cx="970698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dirty="0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200" dirty="0" err="1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ressources_utiles_fiche_solution</a:t>
            </a:r>
            <a:r>
              <a:rPr lang="fr-FR" sz="1200" dirty="0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fr-FR" sz="1200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15688024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1455</TotalTime>
  <Words>406</Words>
  <Application>Microsoft Office PowerPoint</Application>
  <PresentationFormat>Grand écran</PresentationFormat>
  <Paragraphs>60</Paragraphs>
  <Slides>8</Slides>
  <Notes>3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Marianne</vt:lpstr>
      <vt:lpstr>Thème Office</vt:lpstr>
      <vt:lpstr>{{nom_projet}}</vt:lpstr>
      <vt:lpstr>Présentation PowerPoint</vt:lpstr>
      <vt:lpstr>Solution {{n°_solution}} : {{titre_fiche_solution}}</vt:lpstr>
      <vt:lpstr>Présentation PowerPoint</vt:lpstr>
      <vt:lpstr>Présentation PowerPoint</vt:lpstr>
      <vt:lpstr>Présentation PowerPoint</vt:lpstr>
      <vt:lpstr>Présentation PowerPoint</vt:lpstr>
      <vt:lpstr>Ressources utiles {{pagination_ressources_utiles}}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Raphaël Taïeb</dc:creator>
  <cp:lastModifiedBy>Raphaël Taïeb</cp:lastModifiedBy>
  <cp:revision>135</cp:revision>
  <dcterms:created xsi:type="dcterms:W3CDTF">2026-05-22T14:14:17Z</dcterms:created>
  <dcterms:modified xsi:type="dcterms:W3CDTF">2026-09-14T08:47:45Z</dcterms:modified>
</cp:coreProperties>
</file>