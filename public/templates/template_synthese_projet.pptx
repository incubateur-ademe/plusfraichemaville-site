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4" r:id="rId3"/>
    <p:sldId id="266" r:id="rId4"/>
    <p:sldId id="270" r:id="rId5"/>
    <p:sldId id="274" r:id="rId6"/>
    <p:sldId id="275" r:id="rId7"/>
    <p:sldId id="278" r:id="rId8"/>
    <p:sldId id="265" r:id="rId9"/>
    <p:sldId id="276" r:id="rId10"/>
    <p:sldId id="277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86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07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18/09/2026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%7b%7baide_lien%7d%7d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89" y="193063"/>
            <a:ext cx="777534" cy="91691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914129"/>
            <a:ext cx="9324890" cy="1414017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74626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74626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626" y="2083397"/>
            <a:ext cx="1043847" cy="1075479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238961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947998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Aides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financières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et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ingénierie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Aides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mobilisables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00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5EDA-690E-3CC6-C42C-06C82CED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AAAE1D7-6F33-E157-3225-75B1CCD5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4441D3F-C0C4-D64F-E9FD-151DD76BD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sz="3200" dirty="0">
                <a:latin typeface="Marianne" panose="02000000000000000000" pitchFamily="50" charset="0"/>
              </a:rPr>
              <a:t>Aides </a:t>
            </a:r>
            <a:r>
              <a:rPr lang="en-US" sz="3200" dirty="0" err="1">
                <a:latin typeface="Marianne" panose="02000000000000000000" pitchFamily="50" charset="0"/>
              </a:rPr>
              <a:t>financières</a:t>
            </a:r>
            <a:r>
              <a:rPr lang="en-US" sz="3200" dirty="0">
                <a:latin typeface="Marianne" panose="02000000000000000000" pitchFamily="50" charset="0"/>
              </a:rPr>
              <a:t> et </a:t>
            </a:r>
            <a:r>
              <a:rPr lang="en-US" sz="3200" dirty="0" err="1">
                <a:latin typeface="Marianne" panose="02000000000000000000" pitchFamily="50" charset="0"/>
              </a:rPr>
              <a:t>en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 err="1">
                <a:latin typeface="Marianne" panose="02000000000000000000" pitchFamily="50" charset="0"/>
              </a:rPr>
              <a:t>ingénierie</a:t>
            </a:r>
            <a:r>
              <a:rPr lang="en-US" sz="3200" dirty="0">
                <a:latin typeface="Marianne" panose="02000000000000000000" pitchFamily="50" charset="0"/>
              </a:rPr>
              <a:t> 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en-US" sz="32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pagination_aides</a:t>
            </a:r>
            <a:r>
              <a:rPr lang="en-US" sz="32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3200" dirty="0">
              <a:latin typeface="Marianne" panose="02000000000000000000" pitchFamily="50" charset="0"/>
            </a:endParaRPr>
          </a:p>
        </p:txBody>
      </p:sp>
      <p:sp>
        <p:nvSpPr>
          <p:cNvPr id="31" name="contour_aide">
            <a:extLst>
              <a:ext uri="{FF2B5EF4-FFF2-40B4-BE49-F238E27FC236}">
                <a16:creationId xmlns:a16="http://schemas.microsoft.com/office/drawing/2014/main" id="{6F190980-5A7F-CFD0-DB5F-2885D8DD4262}"/>
              </a:ext>
            </a:extLst>
          </p:cNvPr>
          <p:cNvSpPr/>
          <p:nvPr/>
        </p:nvSpPr>
        <p:spPr>
          <a:xfrm>
            <a:off x="576263" y="1436010"/>
            <a:ext cx="10581312" cy="1319489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</a:endParaRPr>
          </a:p>
        </p:txBody>
      </p:sp>
      <p:sp>
        <p:nvSpPr>
          <p:cNvPr id="32" name="zone_aide_type">
            <a:extLst>
              <a:ext uri="{FF2B5EF4-FFF2-40B4-BE49-F238E27FC236}">
                <a16:creationId xmlns:a16="http://schemas.microsoft.com/office/drawing/2014/main" id="{CA13F4C7-9C9C-5D69-7ABF-29ED7E1E953C}"/>
              </a:ext>
            </a:extLst>
          </p:cNvPr>
          <p:cNvSpPr/>
          <p:nvPr/>
        </p:nvSpPr>
        <p:spPr>
          <a:xfrm>
            <a:off x="759144" y="1502851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900" kern="0" spc="15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aide_type</a:t>
            </a:r>
            <a:r>
              <a:rPr lang="en-US" sz="900" kern="0" spc="15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9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33" name="zone_aide_titre">
            <a:extLst>
              <a:ext uri="{FF2B5EF4-FFF2-40B4-BE49-F238E27FC236}">
                <a16:creationId xmlns:a16="http://schemas.microsoft.com/office/drawing/2014/main" id="{3A009836-E679-1A4E-868D-C41048F4DF96}"/>
              </a:ext>
            </a:extLst>
          </p:cNvPr>
          <p:cNvSpPr/>
          <p:nvPr/>
        </p:nvSpPr>
        <p:spPr>
          <a:xfrm>
            <a:off x="759143" y="1710331"/>
            <a:ext cx="10187280" cy="407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b="1" dirty="0">
                <a:latin typeface="Marianne" panose="02000000000000000000" pitchFamily="50" charset="0"/>
              </a:rPr>
              <a:t>{{</a:t>
            </a:r>
            <a:r>
              <a:rPr lang="en-US" sz="1400" b="1" dirty="0" err="1">
                <a:latin typeface="Marianne" panose="02000000000000000000" pitchFamily="50" charset="0"/>
              </a:rPr>
              <a:t>aide_nom</a:t>
            </a:r>
            <a:r>
              <a:rPr lang="en-US" sz="1400" b="1" dirty="0">
                <a:latin typeface="Marianne" panose="02000000000000000000" pitchFamily="50" charset="0"/>
              </a:rPr>
              <a:t>}}</a:t>
            </a: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4372EE40-FFB9-5091-F127-1A16325D4B9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380279C3-3129-980B-2687-34A5CF7BD239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</a:endParaRPr>
          </a:p>
        </p:txBody>
      </p: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023BEAE7-454A-8F1A-3121-9FE3AF0D1D26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zone_aide_lien">
            <a:extLst>
              <a:ext uri="{FF2B5EF4-FFF2-40B4-BE49-F238E27FC236}">
                <a16:creationId xmlns:a16="http://schemas.microsoft.com/office/drawing/2014/main" id="{00ED1968-10CF-E3DC-940B-6214BFEF0E99}"/>
              </a:ext>
            </a:extLst>
          </p:cNvPr>
          <p:cNvSpPr/>
          <p:nvPr/>
        </p:nvSpPr>
        <p:spPr>
          <a:xfrm>
            <a:off x="759143" y="2448390"/>
            <a:ext cx="1466775" cy="288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aide_lien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  <a:hlinkClick r:id="rId3" action="ppaction://hlinkfile"/>
              </a:rPr>
              <a:t>}}</a:t>
            </a:r>
            <a:endParaRPr lang="en-US" sz="1100" dirty="0">
              <a:latin typeface="Marianne" panose="02000000000000000000" pitchFamily="50" charset="0"/>
            </a:endParaRPr>
          </a:p>
        </p:txBody>
      </p:sp>
      <p:sp>
        <p:nvSpPr>
          <p:cNvPr id="3" name="zone_aide_details">
            <a:extLst>
              <a:ext uri="{FF2B5EF4-FFF2-40B4-BE49-F238E27FC236}">
                <a16:creationId xmlns:a16="http://schemas.microsoft.com/office/drawing/2014/main" id="{245A9113-DBB3-676F-614B-19E985C21046}"/>
              </a:ext>
            </a:extLst>
          </p:cNvPr>
          <p:cNvSpPr/>
          <p:nvPr/>
        </p:nvSpPr>
        <p:spPr>
          <a:xfrm>
            <a:off x="759143" y="2139464"/>
            <a:ext cx="10187280" cy="397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Porteur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aide_financiers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 ·  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Échéance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1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aide_echeance</a:t>
            </a:r>
            <a:r>
              <a:rPr lang="en-US" sz="11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917010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1758</TotalTime>
  <Words>474</Words>
  <Application>Microsoft Office PowerPoint</Application>
  <PresentationFormat>Grand écran</PresentationFormat>
  <Paragraphs>70</Paragraphs>
  <Slides>10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Aides financières et en ingénierie {{pagination_aides}}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187</cp:revision>
  <dcterms:created xsi:type="dcterms:W3CDTF">2026-05-22T14:14:17Z</dcterms:created>
  <dcterms:modified xsi:type="dcterms:W3CDTF">2026-09-18T15:02:16Z</dcterms:modified>
</cp:coreProperties>
</file>