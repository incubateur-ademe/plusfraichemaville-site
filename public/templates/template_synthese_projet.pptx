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4" r:id="rId3"/>
    <p:sldId id="266" r:id="rId4"/>
    <p:sldId id="270" r:id="rId5"/>
    <p:sldId id="257" r:id="rId6"/>
    <p:sldId id="258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199707"/>
            <a:ext cx="949579" cy="1119802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763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08452" y="2243993"/>
            <a:ext cx="186160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0772" y="2261585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2581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04872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8392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77224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1" y="2395650"/>
            <a:ext cx="1994034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  <a:p>
            <a:endParaRPr lang="fr-FR" sz="15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5" y="4853531"/>
            <a:ext cx="194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581955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377409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}}</a:t>
            </a:r>
            <a:endParaRPr lang="fr-FR" dirty="0">
              <a:latin typeface="Aptos" panose="020B0004020202020204" pitchFamily="34" charset="0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2053652" y="1942449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3373308" y="2022982"/>
            <a:ext cx="60784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Enrobés drainants (enrobés poreux)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657469" y="200313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m²</a:t>
            </a:r>
            <a:endParaRPr lang="en-US" sz="1300" dirty="0"/>
          </a:p>
        </p:txBody>
      </p:sp>
      <p:pic>
        <p:nvPicPr>
          <p:cNvPr id="15" name="Image 14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461" y="2143455"/>
            <a:ext cx="876038" cy="902585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3373308" y="2309298"/>
            <a:ext cx="6160956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400" dirty="0">
                <a:latin typeface="Aptos"/>
              </a:rPr>
              <a:t>Il s’agit de revêtements de chaussée qui ont l'aspect d'un bitume classique mais leur structure poreuse leur confère une perméabilité bien supérieure.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3388298" y="2887222"/>
            <a:ext cx="61609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Inv. 35-52 €  / m2  ·   Ent. 0 – 1 € HT /m2/ an</a:t>
            </a:r>
            <a:endParaRPr lang="en-US" sz="1200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56BD7CE-AAD0-6A66-B37C-7767ADE9543D}"/>
              </a:ext>
            </a:extLst>
          </p:cNvPr>
          <p:cNvSpPr/>
          <p:nvPr/>
        </p:nvSpPr>
        <p:spPr>
          <a:xfrm>
            <a:off x="2053652" y="3413807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BB1AA7E2-82FD-CEED-FCC5-9DC9A9B60F56}"/>
              </a:ext>
            </a:extLst>
          </p:cNvPr>
          <p:cNvSpPr txBox="1"/>
          <p:nvPr/>
        </p:nvSpPr>
        <p:spPr>
          <a:xfrm>
            <a:off x="3373308" y="3494340"/>
            <a:ext cx="75159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>
                <a:effectLst/>
                <a:latin typeface="Aptos" panose="020B0004020202020204" pitchFamily="34" charset="0"/>
              </a:rPr>
              <a:t>Jardin de pluie</a:t>
            </a:r>
            <a:endParaRPr lang="fr-FR" sz="1400" b="1">
              <a:latin typeface="Aptos" panose="020B0004020202020204" pitchFamily="34" charset="0"/>
            </a:endParaRP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701D703B-668D-2A5A-1953-4978629011F8}"/>
              </a:ext>
            </a:extLst>
          </p:cNvPr>
          <p:cNvSpPr/>
          <p:nvPr/>
        </p:nvSpPr>
        <p:spPr>
          <a:xfrm>
            <a:off x="8657469" y="353976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m²</a:t>
            </a:r>
            <a:endParaRPr lang="en-US" sz="130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C106A661-2575-6245-3E6F-94BC562A8A54}"/>
              </a:ext>
            </a:extLst>
          </p:cNvPr>
          <p:cNvSpPr txBox="1"/>
          <p:nvPr/>
        </p:nvSpPr>
        <p:spPr>
          <a:xfrm>
            <a:off x="3373308" y="3780656"/>
            <a:ext cx="61609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>
                <a:solidFill>
                  <a:srgbClr val="161616"/>
                </a:solidFill>
                <a:effectLst/>
                <a:latin typeface="Marianne" panose="02000000000000000000" pitchFamily="2" charset="0"/>
              </a:rPr>
              <a:t>Un jardin de pluie est une zone peu profonde et végétalisée, intégrée dans la gestion des eaux pluviales pour le traitement et le stockage. </a:t>
            </a:r>
            <a:endParaRPr lang="fr-FR" sz="1400">
              <a:latin typeface="Aptos" panose="020B00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1AAF3A9-5B3C-A7E6-56C3-EC75348A43B1}"/>
              </a:ext>
            </a:extLst>
          </p:cNvPr>
          <p:cNvSpPr txBox="1"/>
          <p:nvPr/>
        </p:nvSpPr>
        <p:spPr>
          <a:xfrm>
            <a:off x="3388298" y="4358580"/>
            <a:ext cx="61609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Inv. 80 - 120 € HT / m²·   Ent. 5 - 10 € HT / m² / an</a:t>
            </a:r>
          </a:p>
        </p:txBody>
      </p:sp>
      <p:pic>
        <p:nvPicPr>
          <p:cNvPr id="27" name="Image 26" descr="Une image contenant personne, habits, plein air, herbe&#10;&#10;Description générée automatiquement">
            <a:extLst>
              <a:ext uri="{FF2B5EF4-FFF2-40B4-BE49-F238E27FC236}">
                <a16:creationId xmlns:a16="http://schemas.microsoft.com/office/drawing/2014/main" id="{473D6B79-E3C3-6616-712C-D2B887C82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7458" y="3590701"/>
            <a:ext cx="864042" cy="881152"/>
          </a:xfrm>
          <a:prstGeom prst="rect">
            <a:avLst/>
          </a:prstGeom>
        </p:spPr>
      </p:pic>
      <p:sp>
        <p:nvSpPr>
          <p:cNvPr id="28" name="Shape 4">
            <a:extLst>
              <a:ext uri="{FF2B5EF4-FFF2-40B4-BE49-F238E27FC236}">
                <a16:creationId xmlns:a16="http://schemas.microsoft.com/office/drawing/2014/main" id="{9400B597-029D-928F-0B3C-403D200A5165}"/>
              </a:ext>
            </a:extLst>
          </p:cNvPr>
          <p:cNvSpPr/>
          <p:nvPr/>
        </p:nvSpPr>
        <p:spPr>
          <a:xfrm>
            <a:off x="2053652" y="4885165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8B0C4CFA-5BA2-3AF7-FE77-A64AF9904E86}"/>
              </a:ext>
            </a:extLst>
          </p:cNvPr>
          <p:cNvSpPr txBox="1"/>
          <p:nvPr/>
        </p:nvSpPr>
        <p:spPr>
          <a:xfrm>
            <a:off x="3373308" y="4965698"/>
            <a:ext cx="75159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Arbres de pluie</a:t>
            </a:r>
            <a:endParaRPr lang="en-US" sz="1400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E1026DA3-40E9-24B8-EB7F-8F7DCDFD240F}"/>
              </a:ext>
            </a:extLst>
          </p:cNvPr>
          <p:cNvSpPr/>
          <p:nvPr/>
        </p:nvSpPr>
        <p:spPr>
          <a:xfrm>
            <a:off x="8657469" y="501112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</a:t>
            </a:r>
            <a:r>
              <a:rPr lang="en-US" sz="1300" b="1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unités</a:t>
            </a:r>
            <a:endParaRPr lang="en-US" sz="130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73548CE-0DE5-689F-1B43-4A0C20AF7044}"/>
              </a:ext>
            </a:extLst>
          </p:cNvPr>
          <p:cNvSpPr txBox="1"/>
          <p:nvPr/>
        </p:nvSpPr>
        <p:spPr>
          <a:xfrm>
            <a:off x="3373308" y="5252014"/>
            <a:ext cx="61609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>
                <a:solidFill>
                  <a:srgbClr val="161616"/>
                </a:solidFill>
                <a:effectLst/>
                <a:latin typeface="Marianne" panose="02000000000000000000" pitchFamily="2" charset="0"/>
              </a:rPr>
              <a:t>La fosse de plantation de ces arbres permet de recevoir, stocker et infiltrer les eaux de ruissellement.</a:t>
            </a:r>
            <a:endParaRPr lang="fr-FR" sz="1400">
              <a:latin typeface="Aptos" panose="020B00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102955A-3B6D-C934-F89D-2A875A948A50}"/>
              </a:ext>
            </a:extLst>
          </p:cNvPr>
          <p:cNvSpPr txBox="1"/>
          <p:nvPr/>
        </p:nvSpPr>
        <p:spPr>
          <a:xfrm>
            <a:off x="3388298" y="5829938"/>
            <a:ext cx="61609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Inv. 2500 - 3500 € HT / unite ·   Ent. 40 - 50 € HT / </a:t>
            </a:r>
            <a:r>
              <a:rPr lang="en-US" sz="1200" i="1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unité</a:t>
            </a:r>
            <a:r>
              <a:rPr lang="en-US" sz="1200" i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an</a:t>
            </a:r>
          </a:p>
        </p:txBody>
      </p:sp>
      <p:pic>
        <p:nvPicPr>
          <p:cNvPr id="33" name="Image 32" descr="Une image contenant personne, habits, plein air, herbe&#10;&#10;Description générée automatiquement">
            <a:extLst>
              <a:ext uri="{FF2B5EF4-FFF2-40B4-BE49-F238E27FC236}">
                <a16:creationId xmlns:a16="http://schemas.microsoft.com/office/drawing/2014/main" id="{737FBF9E-1CAD-719F-D7EC-E8FD54594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7458" y="5062059"/>
            <a:ext cx="864042" cy="881152"/>
          </a:xfrm>
          <a:prstGeom prst="rect">
            <a:avLst/>
          </a:prstGeom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</TotalTime>
  <Words>366</Words>
  <Application>Microsoft Office PowerPoint</Application>
  <PresentationFormat>Grand écran</PresentationFormat>
  <Paragraphs>46</Paragraphs>
  <Slides>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58</cp:revision>
  <dcterms:created xsi:type="dcterms:W3CDTF">2026-05-22T14:14:17Z</dcterms:created>
  <dcterms:modified xsi:type="dcterms:W3CDTF">2026-08-29T21:49:19Z</dcterms:modified>
</cp:coreProperties>
</file>