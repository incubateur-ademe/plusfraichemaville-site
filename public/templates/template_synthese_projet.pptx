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66" r:id="rId4"/>
    <p:sldId id="270" r:id="rId5"/>
    <p:sldId id="274" r:id="rId6"/>
    <p:sldId id="275" r:id="rId7"/>
    <p:sldId id="276" r:id="rId8"/>
    <p:sldId id="277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4A22B3-35B8-B2AA-CEF8-1EDEF9AF0C5F}" name="Raphaël TAÏEB (Ext)" initials="R(" userId="S::raphael.taieb.ext@ademe.fr::ff5ea9b3-0b07-480c-87b6-f2a7ce5e8033" providerId="AD"/>
  <p188:author id="{CDC325DB-9363-7600-73A4-0144C121D599}" name="Bettina LEBLANC (Ext)" initials="B(" userId="S::bettina.leblanc.ext@ademe.fr::3e52b1ca-21aa-44d1-8a76-ff8fdb1085e4" providerId="AD"/>
  <p188:author id="{6BD453F1-7568-3F9D-7EA7-1C915E9D23ED}" name="Alice BOUR (EXT)" initials="A(" userId="S::alice.bour.ext@ademe.fr::9b10eec9-7284-410c-91d6-e03941a3858e" providerId="AD"/>
  <p188:author id="{23E434F2-2295-D2AE-2641-3CE0CF4F11B7}" name="Alexia BUCLET (Ext)" initials="A(" userId="S::alexia.buclet.ext@ademe.fr::8ded202f-f929-4eb7-98cb-33adf7b3059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62" y="4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186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641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15/09/2026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89" y="193063"/>
            <a:ext cx="777534" cy="916916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>
              <a:latin typeface="Marianne" panose="02000000000000000000" pitchFamily="50" charset="0"/>
            </a:endParaRPr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numCol="2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2" y="345395"/>
            <a:ext cx="10082262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08819" y="1980325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762150" y="4370216"/>
            <a:ext cx="1006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Coût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25782" y="2347002"/>
            <a:ext cx="1861606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0091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7922" y="2349530"/>
            <a:ext cx="705591" cy="70559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AB5B274F-E9FF-9A65-B0B2-04647105098D}"/>
              </a:ext>
            </a:extLst>
          </p:cNvPr>
          <p:cNvSpPr txBox="1"/>
          <p:nvPr/>
        </p:nvSpPr>
        <p:spPr>
          <a:xfrm>
            <a:off x="8237469" y="316173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{{cobenefice_2}}</a:t>
            </a:r>
          </a:p>
        </p:txBody>
      </p:sp>
      <p:pic>
        <p:nvPicPr>
          <p:cNvPr id="14" name="picto_cobenefice_1">
            <a:extLst>
              <a:ext uri="{FF2B5EF4-FFF2-40B4-BE49-F238E27FC236}">
                <a16:creationId xmlns:a16="http://schemas.microsoft.com/office/drawing/2014/main" id="{2FEA33B3-62EC-E03E-7518-CBD2AC6E88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2581828"/>
            <a:ext cx="476250" cy="476250"/>
          </a:xfrm>
          <a:prstGeom prst="rect">
            <a:avLst/>
          </a:prstGeom>
        </p:spPr>
      </p:pic>
      <p:pic>
        <p:nvPicPr>
          <p:cNvPr id="15" name="picto_cobenefice_2">
            <a:extLst>
              <a:ext uri="{FF2B5EF4-FFF2-40B4-BE49-F238E27FC236}">
                <a16:creationId xmlns:a16="http://schemas.microsoft.com/office/drawing/2014/main" id="{5292CE92-124B-25A8-3225-A8AFFD52FA2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167539"/>
            <a:ext cx="476250" cy="476250"/>
          </a:xfrm>
          <a:prstGeom prst="rect">
            <a:avLst/>
          </a:prstGeom>
        </p:spPr>
      </p:pic>
      <p:pic>
        <p:nvPicPr>
          <p:cNvPr id="16" name="picto_cobenefice_3">
            <a:extLst>
              <a:ext uri="{FF2B5EF4-FFF2-40B4-BE49-F238E27FC236}">
                <a16:creationId xmlns:a16="http://schemas.microsoft.com/office/drawing/2014/main" id="{EB604EA7-19BC-0A29-A1C9-A41A8F70BB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3751413"/>
            <a:ext cx="476250" cy="476250"/>
          </a:xfrm>
          <a:prstGeom prst="rect">
            <a:avLst/>
          </a:prstGeom>
        </p:spPr>
      </p:pic>
      <p:pic>
        <p:nvPicPr>
          <p:cNvPr id="17" name="picto_cobenefice_4">
            <a:extLst>
              <a:ext uri="{FF2B5EF4-FFF2-40B4-BE49-F238E27FC236}">
                <a16:creationId xmlns:a16="http://schemas.microsoft.com/office/drawing/2014/main" id="{B955E77A-B575-62DE-0057-A6323AB3469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08819" y="4335287"/>
            <a:ext cx="476250" cy="476250"/>
          </a:xfrm>
          <a:prstGeom prst="rect">
            <a:avLst/>
          </a:prstGeom>
        </p:spPr>
      </p:pic>
      <p:pic>
        <p:nvPicPr>
          <p:cNvPr id="18" name="picto_cobenefice_5">
            <a:extLst>
              <a:ext uri="{FF2B5EF4-FFF2-40B4-BE49-F238E27FC236}">
                <a16:creationId xmlns:a16="http://schemas.microsoft.com/office/drawing/2014/main" id="{ED99FFA0-EC34-5D0F-6353-D7419BAFD0D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14109" y="4919161"/>
            <a:ext cx="476250" cy="47625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B8474404-E488-86F0-E047-048FC0C9776E}"/>
              </a:ext>
            </a:extLst>
          </p:cNvPr>
          <p:cNvSpPr txBox="1"/>
          <p:nvPr/>
        </p:nvSpPr>
        <p:spPr>
          <a:xfrm>
            <a:off x="762150" y="2395650"/>
            <a:ext cx="217079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5DCA6C4-87A6-9194-C19C-D27B78EB3AD6}"/>
              </a:ext>
            </a:extLst>
          </p:cNvPr>
          <p:cNvSpPr txBox="1"/>
          <p:nvPr/>
        </p:nvSpPr>
        <p:spPr>
          <a:xfrm>
            <a:off x="754274" y="4853531"/>
            <a:ext cx="22936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Délai des travaux :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032C04B6-E4A2-36FB-8482-DEAEE2233EC0}"/>
              </a:ext>
            </a:extLst>
          </p:cNvPr>
          <p:cNvSpPr txBox="1"/>
          <p:nvPr/>
        </p:nvSpPr>
        <p:spPr>
          <a:xfrm>
            <a:off x="2884517" y="4877899"/>
            <a:ext cx="260990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delai_fiche_solution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608F7C5C-B2A7-E255-DC57-2AE0D978AD00}"/>
              </a:ext>
            </a:extLst>
          </p:cNvPr>
          <p:cNvSpPr txBox="1"/>
          <p:nvPr/>
        </p:nvSpPr>
        <p:spPr>
          <a:xfrm>
            <a:off x="1491713" y="4386098"/>
            <a:ext cx="381444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cout_fiche_solution</a:t>
            </a:r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72EFF39-F777-8E5F-FD01-D72F943C7979}"/>
              </a:ext>
            </a:extLst>
          </p:cNvPr>
          <p:cNvSpPr txBox="1"/>
          <p:nvPr/>
        </p:nvSpPr>
        <p:spPr>
          <a:xfrm>
            <a:off x="8237469" y="257820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{{cobenefice_1}}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098E478-051C-0E99-FB36-5E8423C9D312}"/>
              </a:ext>
            </a:extLst>
          </p:cNvPr>
          <p:cNvSpPr txBox="1"/>
          <p:nvPr/>
        </p:nvSpPr>
        <p:spPr>
          <a:xfrm>
            <a:off x="8237469" y="374526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{{cobenefice_3}}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23D0C9A-6FEB-77DA-29C5-031AF616F917}"/>
              </a:ext>
            </a:extLst>
          </p:cNvPr>
          <p:cNvSpPr txBox="1"/>
          <p:nvPr/>
        </p:nvSpPr>
        <p:spPr>
          <a:xfrm>
            <a:off x="8237469" y="4354922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{{cobenefice_4}}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9F8ACD8-1EDA-512F-86EF-594B0287BCB3}"/>
              </a:ext>
            </a:extLst>
          </p:cNvPr>
          <p:cNvSpPr txBox="1"/>
          <p:nvPr/>
        </p:nvSpPr>
        <p:spPr>
          <a:xfrm>
            <a:off x="8237469" y="4917253"/>
            <a:ext cx="3861034" cy="47625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r>
              <a:rPr lang="fr-FR" sz="1600" dirty="0">
                <a:solidFill>
                  <a:schemeClr val="tx1">
                    <a:lumMod val="65000"/>
                    <a:lumOff val="35000"/>
                  </a:schemeClr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{{cobenefice_5}}</a:t>
            </a:r>
          </a:p>
        </p:txBody>
      </p:sp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C0EAF12D-1845-9AB2-8AD7-7633BEE55E07}"/>
              </a:ext>
            </a:extLst>
          </p:cNvPr>
          <p:cNvSpPr txBox="1"/>
          <p:nvPr/>
        </p:nvSpPr>
        <p:spPr>
          <a:xfrm>
            <a:off x="576263" y="1137583"/>
            <a:ext cx="10187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Équipements, matériaux et systèmes retenus pour le projet {{</a:t>
            </a:r>
            <a:r>
              <a:rPr lang="fr-FR" b="1" i="0" dirty="0" err="1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pagination_solution_materiaux</a:t>
            </a:r>
            <a:r>
              <a:rPr lang="fr-FR" b="1" i="0" dirty="0">
                <a:solidFill>
                  <a:srgbClr val="161616"/>
                </a:solidFill>
                <a:effectLst/>
                <a:latin typeface="Marianne" panose="02000000000000000000" pitchFamily="50" charset="0"/>
              </a:rPr>
              <a:t>}}</a:t>
            </a:r>
            <a:endParaRPr lang="fr-FR" dirty="0">
              <a:latin typeface="Marianne" panose="02000000000000000000" pitchFamily="50" charset="0"/>
            </a:endParaRPr>
          </a:p>
        </p:txBody>
      </p:sp>
      <p:sp>
        <p:nvSpPr>
          <p:cNvPr id="8" name="contour_materiau">
            <a:extLst>
              <a:ext uri="{FF2B5EF4-FFF2-40B4-BE49-F238E27FC236}">
                <a16:creationId xmlns:a16="http://schemas.microsoft.com/office/drawing/2014/main" id="{2B3E358C-F924-2E78-C7EA-F8D6F4DEC5C3}"/>
              </a:ext>
            </a:extLst>
          </p:cNvPr>
          <p:cNvSpPr/>
          <p:nvPr/>
        </p:nvSpPr>
        <p:spPr>
          <a:xfrm>
            <a:off x="958362" y="1914130"/>
            <a:ext cx="932489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ADADA"/>
            </a:solidFill>
            <a:prstDash val="solid"/>
          </a:ln>
          <a:effectLst>
            <a:outerShdw blurRad="76200" dist="254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2360736" y="1974626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10" name="zone_quantite_materiau">
            <a:extLst>
              <a:ext uri="{FF2B5EF4-FFF2-40B4-BE49-F238E27FC236}">
                <a16:creationId xmlns:a16="http://schemas.microsoft.com/office/drawing/2014/main" id="{99178690-04DD-6BBB-B2F6-1E672F23CAA3}"/>
              </a:ext>
            </a:extLst>
          </p:cNvPr>
          <p:cNvSpPr/>
          <p:nvPr/>
        </p:nvSpPr>
        <p:spPr>
          <a:xfrm>
            <a:off x="8256494" y="1974626"/>
            <a:ext cx="1908065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300" b="1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quantite_materiau</a:t>
            </a:r>
            <a:r>
              <a:rPr lang="en-US" sz="1300" b="1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300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5554" y="2108376"/>
            <a:ext cx="876038" cy="902585"/>
          </a:xfrm>
          <a:prstGeom prst="rect">
            <a:avLst/>
          </a:prstGeom>
        </p:spPr>
      </p:pic>
      <p:sp>
        <p:nvSpPr>
          <p:cNvPr id="17" name="zone_description_materiau">
            <a:extLst>
              <a:ext uri="{FF2B5EF4-FFF2-40B4-BE49-F238E27FC236}">
                <a16:creationId xmlns:a16="http://schemas.microsoft.com/office/drawing/2014/main" id="{E402B53A-5129-3D25-265B-DC4D2781533E}"/>
              </a:ext>
            </a:extLst>
          </p:cNvPr>
          <p:cNvSpPr txBox="1"/>
          <p:nvPr/>
        </p:nvSpPr>
        <p:spPr>
          <a:xfrm>
            <a:off x="2360736" y="2238961"/>
            <a:ext cx="7349126" cy="632610"/>
          </a:xfrm>
          <a:prstGeom prst="rect">
            <a:avLst/>
          </a:prstGeom>
          <a:noFill/>
        </p:spPr>
        <p:txBody>
          <a:bodyPr wrap="square" lIns="91440" tIns="45720" rIns="91440" bIns="45720" anchor="t">
            <a:normAutofit/>
          </a:bodyPr>
          <a:lstStyle/>
          <a:p>
            <a:r>
              <a:rPr lang="fr-FR" sz="1300" dirty="0">
                <a:latin typeface="Marianne" panose="02000000000000000000" pitchFamily="50" charset="0"/>
              </a:rPr>
              <a:t>{{</a:t>
            </a:r>
            <a:r>
              <a:rPr lang="fr-FR" sz="1300" dirty="0" err="1">
                <a:latin typeface="Marianne" panose="02000000000000000000" pitchFamily="50" charset="0"/>
              </a:rPr>
              <a:t>description_materiau</a:t>
            </a:r>
            <a:r>
              <a:rPr lang="fr-FR" sz="1300" dirty="0">
                <a:latin typeface="Marianne" panose="02000000000000000000" pitchFamily="50" charset="0"/>
              </a:rPr>
              <a:t>}}</a:t>
            </a:r>
          </a:p>
        </p:txBody>
      </p:sp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2360736" y="2874034"/>
            <a:ext cx="71885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 · 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 1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2" y="345395"/>
            <a:ext cx="10082261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en-US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700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Estimation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endParaRPr lang="en-US" sz="37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et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coûts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d'entretien</a:t>
            </a: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annuels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00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D765A-1FEE-159F-96BA-777FDEE39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bg_recap_estimation_fs">
            <a:extLst>
              <a:ext uri="{FF2B5EF4-FFF2-40B4-BE49-F238E27FC236}">
                <a16:creationId xmlns:a16="http://schemas.microsoft.com/office/drawing/2014/main" id="{6BA12113-ED47-B687-ED73-BF7EB1432512}"/>
              </a:ext>
            </a:extLst>
          </p:cNvPr>
          <p:cNvSpPr/>
          <p:nvPr/>
        </p:nvSpPr>
        <p:spPr>
          <a:xfrm>
            <a:off x="1255554" y="2602517"/>
            <a:ext cx="9765604" cy="66381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latin typeface="Marianne" panose="02000000000000000000" pitchFamily="50" charset="0"/>
            </a:endParaRPr>
          </a:p>
        </p:txBody>
      </p:sp>
      <p:sp>
        <p:nvSpPr>
          <p:cNvPr id="9" name="zone_titre_materiau">
            <a:extLst>
              <a:ext uri="{FF2B5EF4-FFF2-40B4-BE49-F238E27FC236}">
                <a16:creationId xmlns:a16="http://schemas.microsoft.com/office/drawing/2014/main" id="{A88800C3-C9AC-CC70-2E75-A1BBA164B372}"/>
              </a:ext>
            </a:extLst>
          </p:cNvPr>
          <p:cNvSpPr txBox="1"/>
          <p:nvPr/>
        </p:nvSpPr>
        <p:spPr>
          <a:xfrm>
            <a:off x="1865713" y="1529871"/>
            <a:ext cx="55971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200" b="1" i="0" dirty="0" err="1">
                <a:effectLst/>
                <a:latin typeface="Marianne" panose="02000000000000000000" pitchFamily="50" charset="0"/>
              </a:rPr>
              <a:t>titre_materiau</a:t>
            </a:r>
            <a:r>
              <a:rPr lang="fr-FR" sz="1200" b="1" i="0" dirty="0">
                <a:effectLst/>
                <a:latin typeface="Marianne" panose="02000000000000000000" pitchFamily="50" charset="0"/>
              </a:rPr>
              <a:t>}}</a:t>
            </a:r>
            <a:endParaRPr lang="fr-FR" sz="1200" b="1" dirty="0">
              <a:latin typeface="Marianne" panose="02000000000000000000" pitchFamily="50" charset="0"/>
            </a:endParaRPr>
          </a:p>
        </p:txBody>
      </p:sp>
      <p:pic>
        <p:nvPicPr>
          <p:cNvPr id="15" name="image_materiau" descr="Une image contenant sol, plein air, bâtiment, propriété&#10;&#10;Description générée automatiquement">
            <a:extLst>
              <a:ext uri="{FF2B5EF4-FFF2-40B4-BE49-F238E27FC236}">
                <a16:creationId xmlns:a16="http://schemas.microsoft.com/office/drawing/2014/main" id="{6FE81792-B99E-A1A7-6F71-0CC62F608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168" y="1575983"/>
            <a:ext cx="462545" cy="476562"/>
          </a:xfrm>
          <a:prstGeom prst="rect">
            <a:avLst/>
          </a:prstGeom>
        </p:spPr>
      </p:pic>
      <p:sp>
        <p:nvSpPr>
          <p:cNvPr id="19" name="zone_cout_materiau">
            <a:extLst>
              <a:ext uri="{FF2B5EF4-FFF2-40B4-BE49-F238E27FC236}">
                <a16:creationId xmlns:a16="http://schemas.microsoft.com/office/drawing/2014/main" id="{79E9B9CA-0F08-3137-64D1-50FFF50EA47E}"/>
              </a:ext>
            </a:extLst>
          </p:cNvPr>
          <p:cNvSpPr txBox="1"/>
          <p:nvPr/>
        </p:nvSpPr>
        <p:spPr>
          <a:xfrm>
            <a:off x="7417711" y="1632102"/>
            <a:ext cx="36034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 {{</a:t>
            </a:r>
            <a:r>
              <a:rPr lang="en-US" sz="12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cout_entretien_materiau</a:t>
            </a:r>
            <a:r>
              <a:rPr lang="en-US" sz="12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dirty="0">
              <a:latin typeface="Marianne" panose="02000000000000000000" pitchFamily="50" charset="0"/>
            </a:endParaRPr>
          </a:p>
        </p:txBody>
      </p:sp>
      <p:sp>
        <p:nvSpPr>
          <p:cNvPr id="3" name="titre_recap_estimation">
            <a:extLst>
              <a:ext uri="{FF2B5EF4-FFF2-40B4-BE49-F238E27FC236}">
                <a16:creationId xmlns:a16="http://schemas.microsoft.com/office/drawing/2014/main" id="{F82418D9-B39F-2905-A2C1-E7CF651F5D36}"/>
              </a:ext>
            </a:extLst>
          </p:cNvPr>
          <p:cNvSpPr txBox="1">
            <a:spLocks/>
          </p:cNvSpPr>
          <p:nvPr/>
        </p:nvSpPr>
        <p:spPr>
          <a:xfrm>
            <a:off x="576263" y="345395"/>
            <a:ext cx="10130008" cy="61529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Récapitulatif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budgétaire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pagination_recap_estimation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800" dirty="0">
              <a:latin typeface="Marianne" panose="02000000000000000000" pitchFamily="50" charset="0"/>
            </a:endParaRPr>
          </a:p>
        </p:txBody>
      </p:sp>
      <p:cxnSp>
        <p:nvCxnSpPr>
          <p:cNvPr id="4" name="Connecteur droit 3">
            <a:extLst>
              <a:ext uri="{FF2B5EF4-FFF2-40B4-BE49-F238E27FC236}">
                <a16:creationId xmlns:a16="http://schemas.microsoft.com/office/drawing/2014/main" id="{E6F030A1-1132-C9A1-903C-C717603846E0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Image 13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AD69CEB4-74D5-E3C0-685B-527FC6C4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FE2676-551D-F9A9-1060-DC00E3F770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2" name="zone_titre_fs_recap_estimation">
            <a:extLst>
              <a:ext uri="{FF2B5EF4-FFF2-40B4-BE49-F238E27FC236}">
                <a16:creationId xmlns:a16="http://schemas.microsoft.com/office/drawing/2014/main" id="{B161BF39-D0D2-C1A3-6A29-174F5C4B931B}"/>
              </a:ext>
            </a:extLst>
          </p:cNvPr>
          <p:cNvSpPr txBox="1"/>
          <p:nvPr/>
        </p:nvSpPr>
        <p:spPr>
          <a:xfrm>
            <a:off x="1097293" y="1153414"/>
            <a:ext cx="60593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400" b="1" i="0" dirty="0" err="1">
                <a:effectLst/>
                <a:latin typeface="Marianne" panose="02000000000000000000" pitchFamily="50" charset="0"/>
              </a:rPr>
              <a:t>titre_fiche_solution</a:t>
            </a:r>
            <a:r>
              <a:rPr lang="fr-FR" sz="1400" b="1" i="0" dirty="0">
                <a:effectLst/>
                <a:latin typeface="Marianne" panose="02000000000000000000" pitchFamily="50" charset="0"/>
              </a:rPr>
              <a:t>}}</a:t>
            </a:r>
            <a:endParaRPr lang="fr-FR" sz="1400" b="1" dirty="0">
              <a:latin typeface="Marianne" panose="02000000000000000000" pitchFamily="50" charset="0"/>
            </a:endParaRPr>
          </a:p>
        </p:txBody>
      </p:sp>
      <p:sp>
        <p:nvSpPr>
          <p:cNvPr id="6" name="recap_total_libelles">
            <a:extLst>
              <a:ext uri="{FF2B5EF4-FFF2-40B4-BE49-F238E27FC236}">
                <a16:creationId xmlns:a16="http://schemas.microsoft.com/office/drawing/2014/main" id="{8CF6B5B8-BAD7-E10A-E363-18498172553F}"/>
              </a:ext>
            </a:extLst>
          </p:cNvPr>
          <p:cNvSpPr txBox="1"/>
          <p:nvPr/>
        </p:nvSpPr>
        <p:spPr>
          <a:xfrm>
            <a:off x="6711181" y="4547787"/>
            <a:ext cx="157996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:</a:t>
            </a: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Entretien :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CB1432B-AE88-BC89-B5DC-87807C1FB1A9}"/>
              </a:ext>
            </a:extLst>
          </p:cNvPr>
          <p:cNvSpPr txBox="1"/>
          <p:nvPr/>
        </p:nvSpPr>
        <p:spPr>
          <a:xfrm>
            <a:off x="6918732" y="2680597"/>
            <a:ext cx="39508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r">
              <a:buNone/>
            </a:pP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cout_investissement_fiche_solution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</a:p>
          <a:p>
            <a:pPr marL="0" indent="0" algn="r">
              <a:buNone/>
            </a:pP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cout_entretien_fiche_solution</a:t>
            </a:r>
            <a:r>
              <a:rPr lang="en-US" sz="1000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latin typeface="Marianne" panose="02000000000000000000" pitchFamily="50" charset="0"/>
            </a:endParaRPr>
          </a:p>
        </p:txBody>
      </p:sp>
      <p:sp>
        <p:nvSpPr>
          <p:cNvPr id="13" name="recap_titre">
            <a:extLst>
              <a:ext uri="{FF2B5EF4-FFF2-40B4-BE49-F238E27FC236}">
                <a16:creationId xmlns:a16="http://schemas.microsoft.com/office/drawing/2014/main" id="{821261B6-DEDA-B63E-00A5-C946FA7EEF26}"/>
              </a:ext>
            </a:extLst>
          </p:cNvPr>
          <p:cNvSpPr txBox="1"/>
          <p:nvPr/>
        </p:nvSpPr>
        <p:spPr>
          <a:xfrm>
            <a:off x="1097292" y="3955732"/>
            <a:ext cx="62507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400" b="1" i="0" dirty="0">
                <a:effectLst/>
                <a:latin typeface="Marianne" panose="02000000000000000000" pitchFamily="50" charset="0"/>
              </a:rPr>
              <a:t>Estimation totale des solutions envisagées</a:t>
            </a:r>
          </a:p>
          <a:p>
            <a:pPr algn="l"/>
            <a:r>
              <a:rPr lang="fr-FR" sz="1100" b="0" i="0" dirty="0">
                <a:solidFill>
                  <a:srgbClr val="666666"/>
                </a:solidFill>
                <a:effectLst/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Inclut : fourniture et pose (hors travaux complémentaires de voirie, consolidation, etc.)</a:t>
            </a:r>
            <a:r>
              <a:rPr lang="fr-FR" sz="1400" b="1" dirty="0">
                <a:latin typeface="Marianne" panose="02000000000000000000" pitchFamily="50" charset="0"/>
              </a:rPr>
              <a:t> </a:t>
            </a:r>
          </a:p>
        </p:txBody>
      </p:sp>
      <p:sp>
        <p:nvSpPr>
          <p:cNvPr id="16" name="zone_recap_fiche_solution">
            <a:extLst>
              <a:ext uri="{FF2B5EF4-FFF2-40B4-BE49-F238E27FC236}">
                <a16:creationId xmlns:a16="http://schemas.microsoft.com/office/drawing/2014/main" id="{2511F9AC-9A80-85A8-5987-7E6F88547863}"/>
              </a:ext>
            </a:extLst>
          </p:cNvPr>
          <p:cNvSpPr txBox="1"/>
          <p:nvPr/>
        </p:nvSpPr>
        <p:spPr>
          <a:xfrm>
            <a:off x="1377181" y="2718981"/>
            <a:ext cx="328567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</a:t>
            </a:r>
            <a:r>
              <a:rPr lang="en-US" sz="1200" b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Investissement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Total Entretien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18" name="recap_total_libelles_valeurs">
            <a:extLst>
              <a:ext uri="{FF2B5EF4-FFF2-40B4-BE49-F238E27FC236}">
                <a16:creationId xmlns:a16="http://schemas.microsoft.com/office/drawing/2014/main" id="{09E2F9B4-E5A1-7459-5392-6A6FC53C59B6}"/>
              </a:ext>
            </a:extLst>
          </p:cNvPr>
          <p:cNvSpPr txBox="1"/>
          <p:nvPr/>
        </p:nvSpPr>
        <p:spPr>
          <a:xfrm>
            <a:off x="8093319" y="4547787"/>
            <a:ext cx="28311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200" b="1" i="1" dirty="0" err="1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cout_investissement_estimation</a:t>
            </a:r>
            <a:r>
              <a:rPr lang="en-US" sz="1200" b="1" i="1" dirty="0">
                <a:solidFill>
                  <a:srgbClr val="2C2C2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200" b="1" dirty="0">
              <a:solidFill>
                <a:srgbClr val="2C2C2C"/>
              </a:solidFill>
              <a:latin typeface="Marianne" panose="02000000000000000000" pitchFamily="50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{{</a:t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cout_enretien_estimation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}}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Marianne" panose="02000000000000000000" pitchFamily="50" charset="0"/>
            </a:endParaRPr>
          </a:p>
        </p:txBody>
      </p:sp>
      <p:sp>
        <p:nvSpPr>
          <p:cNvPr id="8" name="zone_quantite_materiau">
            <a:extLst>
              <a:ext uri="{FF2B5EF4-FFF2-40B4-BE49-F238E27FC236}">
                <a16:creationId xmlns:a16="http://schemas.microsoft.com/office/drawing/2014/main" id="{2E3BE4A1-A1C8-70C6-319A-D994B244BC29}"/>
              </a:ext>
            </a:extLst>
          </p:cNvPr>
          <p:cNvSpPr txBox="1"/>
          <p:nvPr/>
        </p:nvSpPr>
        <p:spPr>
          <a:xfrm>
            <a:off x="1865713" y="1824986"/>
            <a:ext cx="55971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i="0" dirty="0">
                <a:effectLst/>
                <a:latin typeface="Marianne" panose="02000000000000000000" pitchFamily="50" charset="0"/>
              </a:rPr>
              <a:t>{{</a:t>
            </a:r>
            <a:r>
              <a:rPr lang="fr-FR" sz="1000" i="0" dirty="0" err="1">
                <a:effectLst/>
                <a:latin typeface="Marianne" panose="02000000000000000000" pitchFamily="50" charset="0"/>
              </a:rPr>
              <a:t>quantite_materiau</a:t>
            </a:r>
            <a:r>
              <a:rPr lang="fr-FR" sz="1000" i="0" dirty="0">
                <a:effectLst/>
                <a:latin typeface="Marianne" panose="02000000000000000000" pitchFamily="50" charset="0"/>
              </a:rPr>
              <a:t>}}</a:t>
            </a:r>
            <a:endParaRPr lang="fr-FR" sz="1000" dirty="0">
              <a:latin typeface="Marianne" panose="02000000000000000000" pitchFamily="50" charset="0"/>
            </a:endParaRPr>
          </a:p>
        </p:txBody>
      </p: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AC020DFA-7CBC-D296-9C51-4CDB5F6EEA67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 3">
            <a:extLst>
              <a:ext uri="{FF2B5EF4-FFF2-40B4-BE49-F238E27FC236}">
                <a16:creationId xmlns:a16="http://schemas.microsoft.com/office/drawing/2014/main" id="{513ED38C-6EE1-7913-25F4-4C8F7039ADA0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4386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Ressources</a:t>
            </a:r>
            <a:r>
              <a:rPr lang="en-US" sz="3733" b="1" dirty="0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utiles</a:t>
            </a:r>
            <a:endParaRPr lang="en-US" sz="3733" dirty="0">
              <a:latin typeface="Marianne" panose="02000000000000000000" pitchFamily="50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Documentation </a:t>
            </a:r>
            <a:r>
              <a:rPr lang="en-US" sz="1600" dirty="0" err="1">
                <a:solidFill>
                  <a:srgbClr val="5C5C5C"/>
                </a:solidFill>
                <a:latin typeface="Marianne" panose="02000000000000000000" pitchFamily="50" charset="0"/>
                <a:ea typeface="Calibri" pitchFamily="34" charset="-122"/>
                <a:cs typeface="Calibri" pitchFamily="34" charset="-120"/>
              </a:rPr>
              <a:t>complémentaire</a:t>
            </a:r>
            <a:endParaRPr lang="en-US" sz="1600" dirty="0">
              <a:latin typeface="Marianne" panose="02000000000000000000" pitchFamily="50" charset="0"/>
            </a:endParaRP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617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10031656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err="1">
                <a:latin typeface="Marianne" panose="02000000000000000000" pitchFamily="50" charset="0"/>
              </a:rPr>
              <a:t>Ressources</a:t>
            </a:r>
            <a:r>
              <a:rPr lang="en-US" sz="2800" dirty="0">
                <a:latin typeface="Marianne" panose="02000000000000000000" pitchFamily="50" charset="0"/>
              </a:rPr>
              <a:t> </a:t>
            </a:r>
            <a:r>
              <a:rPr lang="en-US" sz="2800" dirty="0" err="1">
                <a:latin typeface="Marianne" panose="02000000000000000000" pitchFamily="50" charset="0"/>
              </a:rPr>
              <a:t>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{{</a:t>
            </a:r>
            <a:r>
              <a:rPr lang="en-US" sz="2800" dirty="0" err="1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pagination_ressources_utiles</a:t>
            </a:r>
            <a:r>
              <a:rPr lang="en-US" sz="2800" dirty="0"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_titre_fiche_solution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fr-FR" sz="2000" b="1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 (ADEME)</a:t>
            </a:r>
            <a:endParaRPr lang="en-US" sz="10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7" name="zone_ressources_fiche_solution">
            <a:extLst>
              <a:ext uri="{FF2B5EF4-FFF2-40B4-BE49-F238E27FC236}">
                <a16:creationId xmlns:a16="http://schemas.microsoft.com/office/drawing/2014/main" id="{67927841-950D-B96E-D880-93E461963945}"/>
              </a:ext>
            </a:extLst>
          </p:cNvPr>
          <p:cNvSpPr txBox="1"/>
          <p:nvPr/>
        </p:nvSpPr>
        <p:spPr>
          <a:xfrm>
            <a:off x="839464" y="1626616"/>
            <a:ext cx="97069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200" dirty="0" err="1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ressources_utiles_fiche_solution</a:t>
            </a:r>
            <a:r>
              <a:rPr lang="fr-FR" sz="1200" dirty="0">
                <a:solidFill>
                  <a:srgbClr val="161616"/>
                </a:solidFill>
                <a:latin typeface="Marianne" panose="02000000000000000000" pitchFamily="50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1200" dirty="0">
              <a:latin typeface="Marianne" panose="02000000000000000000" pitchFamily="50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68802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1481</TotalTime>
  <Words>406</Words>
  <Application>Microsoft Office PowerPoint</Application>
  <PresentationFormat>Grand écran</PresentationFormat>
  <Paragraphs>60</Paragraphs>
  <Slides>8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Marianne</vt:lpstr>
      <vt:lpstr>Thème Office</vt:lpstr>
      <vt:lpstr>{{nom_projet}}</vt:lpstr>
      <vt:lpstr>Présentation PowerPoint</vt:lpstr>
      <vt:lpstr>Solution {{n°_solution}} : {{titre_fiche_solution}}</vt:lpstr>
      <vt:lpstr>Présentation PowerPoint</vt:lpstr>
      <vt:lpstr>Présentation PowerPoint</vt:lpstr>
      <vt:lpstr>Présentation PowerPoint</vt:lpstr>
      <vt:lpstr>Présentation PowerPoint</vt:lpstr>
      <vt:lpstr>Ressources utiles {{pagination_ressources_utiles}}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155</cp:revision>
  <dcterms:created xsi:type="dcterms:W3CDTF">2026-05-22T14:14:17Z</dcterms:created>
  <dcterms:modified xsi:type="dcterms:W3CDTF">2026-09-15T14:37:25Z</dcterms:modified>
</cp:coreProperties>
</file>