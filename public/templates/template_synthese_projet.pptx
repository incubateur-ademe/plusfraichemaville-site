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4" r:id="rId3"/>
    <p:sldId id="282" r:id="rId4"/>
    <p:sldId id="281" r:id="rId5"/>
    <p:sldId id="279" r:id="rId6"/>
    <p:sldId id="280" r:id="rId7"/>
    <p:sldId id="270" r:id="rId8"/>
    <p:sldId id="274" r:id="rId9"/>
    <p:sldId id="275" r:id="rId10"/>
    <p:sldId id="278" r:id="rId11"/>
    <p:sldId id="265" r:id="rId12"/>
    <p:sldId id="276" r:id="rId13"/>
    <p:sldId id="277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A31E"/>
    <a:srgbClr val="3B87FF"/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70" d="100"/>
          <a:sy n="70" d="100"/>
        </p:scale>
        <p:origin x="80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9846415985298734E-2"/>
          <c:y val="8.0223408122376008E-2"/>
          <c:w val="0.23616668023587156"/>
          <c:h val="0.83955318375524801"/>
        </c:manualLayout>
      </c:layout>
      <c:pie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Part de la surface</c:v>
                </c:pt>
              </c:strCache>
            </c:strRef>
          </c:tx>
          <c:dPt>
            <c:idx val="0"/>
            <c:bubble3D val="0"/>
            <c:spPr>
              <a:solidFill>
                <a:srgbClr val="68687B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CDE-45E8-9302-526826EE6F41}"/>
              </c:ext>
            </c:extLst>
          </c:dPt>
          <c:dPt>
            <c:idx val="1"/>
            <c:bubble3D val="0"/>
            <c:spPr>
              <a:solidFill>
                <a:srgbClr val="3B87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CDE-45E8-9302-526826EE6F41}"/>
              </c:ext>
            </c:extLst>
          </c:dPt>
          <c:dPt>
            <c:idx val="2"/>
            <c:bubble3D val="0"/>
            <c:spPr>
              <a:solidFill>
                <a:srgbClr val="00A95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CDE-45E8-9302-526826EE6F41}"/>
              </c:ext>
            </c:extLst>
          </c:dPt>
          <c:dPt>
            <c:idx val="3"/>
            <c:bubble3D val="0"/>
            <c:spPr>
              <a:solidFill>
                <a:srgbClr val="B7B7D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CDE-45E8-9302-526826EE6F41}"/>
              </c:ext>
            </c:extLst>
          </c:dPt>
          <c:cat>
            <c:strRef>
              <c:f>Feuil1!$A$2:$A$5</c:f>
              <c:strCache>
                <c:ptCount val="4"/>
                <c:pt idx="0">
                  <c:v>Revêtement de sol</c:v>
                </c:pt>
                <c:pt idx="1">
                  <c:v>Fontainerie, bassins en eau</c:v>
                </c:pt>
                <c:pt idx="2">
                  <c:v>Surface végétalisées au sol</c:v>
                </c:pt>
                <c:pt idx="3">
                  <c:v>Toitures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CDE-45E8-9302-526826EE6F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0.14162194394752534"/>
          <c:y val="6.7400870685264097E-2"/>
          <c:w val="0.79298350228582781"/>
          <c:h val="0.8506116101705134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latin typeface="Marianne" panose="02000000000000000000" pitchFamily="50" charset="0"/>
        </a:defRPr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477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05/10/2026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17" Type="http://schemas.openxmlformats.org/officeDocument/2006/relationships/chart" Target="../charts/chart1.xml"/><Relationship Id="rId2" Type="http://schemas.openxmlformats.org/officeDocument/2006/relationships/image" Target="../media/image2.jpeg"/><Relationship Id="rId16" Type="http://schemas.openxmlformats.org/officeDocument/2006/relationships/image" Target="../media/image1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951" y="131647"/>
            <a:ext cx="686944" cy="81008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00E88AC-0844-103F-0759-EAAA7C2FE3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97" y="469"/>
            <a:ext cx="1048610" cy="1072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diagnostic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identifiées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_titre_fiches_diagnostic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titre_fiches_diagnostic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our_repartition_sols">
            <a:extLst>
              <a:ext uri="{FF2B5EF4-FFF2-40B4-BE49-F238E27FC236}">
                <a16:creationId xmlns:a16="http://schemas.microsoft.com/office/drawing/2014/main" id="{0D2AE75D-32A2-EB1F-7572-7DA83777F56E}"/>
              </a:ext>
            </a:extLst>
          </p:cNvPr>
          <p:cNvSpPr/>
          <p:nvPr/>
        </p:nvSpPr>
        <p:spPr>
          <a:xfrm>
            <a:off x="297861" y="4332617"/>
            <a:ext cx="5639453" cy="201044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5" name="contour_perm">
            <a:extLst>
              <a:ext uri="{FF2B5EF4-FFF2-40B4-BE49-F238E27FC236}">
                <a16:creationId xmlns:a16="http://schemas.microsoft.com/office/drawing/2014/main" id="{D8AB42B7-DFFF-113D-D131-7B6AAD2B2A4C}"/>
              </a:ext>
            </a:extLst>
          </p:cNvPr>
          <p:cNvSpPr/>
          <p:nvPr/>
        </p:nvSpPr>
        <p:spPr>
          <a:xfrm>
            <a:off x="6765679" y="1071248"/>
            <a:ext cx="5203163" cy="2512121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6" name="contour_bio">
            <a:extLst>
              <a:ext uri="{FF2B5EF4-FFF2-40B4-BE49-F238E27FC236}">
                <a16:creationId xmlns:a16="http://schemas.microsoft.com/office/drawing/2014/main" id="{4D12FAD2-60A4-A6E4-0DB5-C47B2328B29F}"/>
              </a:ext>
            </a:extLst>
          </p:cNvPr>
          <p:cNvSpPr/>
          <p:nvPr/>
        </p:nvSpPr>
        <p:spPr>
          <a:xfrm>
            <a:off x="6765680" y="3850116"/>
            <a:ext cx="5203162" cy="252641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84" name="contour_materiau">
            <a:extLst>
              <a:ext uri="{FF2B5EF4-FFF2-40B4-BE49-F238E27FC236}">
                <a16:creationId xmlns:a16="http://schemas.microsoft.com/office/drawing/2014/main" id="{CBC5F1D2-8720-ABCF-DB73-04E78162FDA4}"/>
              </a:ext>
            </a:extLst>
          </p:cNvPr>
          <p:cNvSpPr/>
          <p:nvPr/>
        </p:nvSpPr>
        <p:spPr>
          <a:xfrm>
            <a:off x="293261" y="1080537"/>
            <a:ext cx="5639453" cy="3132233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simplifiée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la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surchauffe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l’espace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à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rafraîchir</a:t>
            </a:r>
            <a:endParaRPr lang="en-US" sz="28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1037765" y="1361243"/>
            <a:ext cx="324474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4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1400" b="1" kern="0" spc="150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kern="0" spc="150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urbain</a:t>
            </a:r>
            <a:endParaRPr lang="en-US" sz="1400" b="1" dirty="0">
              <a:solidFill>
                <a:srgbClr val="000091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413637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coeff_ru_resultat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2759529" y="1277671"/>
            <a:ext cx="27997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coeff_ru</a:t>
            </a:r>
            <a:r>
              <a:rPr lang="fr-FR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508248" y="2707349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réchauffant</a:t>
            </a:r>
          </a:p>
        </p:txBody>
      </p:sp>
      <p:sp>
        <p:nvSpPr>
          <p:cNvPr id="26" name="zone_coeff_ru_analyse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508248" y="3270769"/>
            <a:ext cx="4929167" cy="77207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analyse_coeff_ru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19" name="Graphique 18">
            <a:extLst>
              <a:ext uri="{FF2B5EF4-FFF2-40B4-BE49-F238E27FC236}">
                <a16:creationId xmlns:a16="http://schemas.microsoft.com/office/drawing/2014/main" id="{7F04C829-FC9E-0D50-4C89-B26887E9A2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412" y="1291419"/>
            <a:ext cx="421353" cy="421353"/>
          </a:xfrm>
          <a:prstGeom prst="rect">
            <a:avLst/>
          </a:prstGeom>
        </p:spPr>
      </p:pic>
      <p:pic>
        <p:nvPicPr>
          <p:cNvPr id="22" name="zone_coeff_ru_echelle">
            <a:extLst>
              <a:ext uri="{FF2B5EF4-FFF2-40B4-BE49-F238E27FC236}">
                <a16:creationId xmlns:a16="http://schemas.microsoft.com/office/drawing/2014/main" id="{76E8F867-23AD-C898-638B-48FE80B6F75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1764" y="2123630"/>
            <a:ext cx="4800145" cy="216000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2CCBF05D-7C66-27DA-1E1D-7F954CC00891}"/>
              </a:ext>
            </a:extLst>
          </p:cNvPr>
          <p:cNvSpPr txBox="1"/>
          <p:nvPr/>
        </p:nvSpPr>
        <p:spPr>
          <a:xfrm>
            <a:off x="5188647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31BEB7D-AA3D-0C43-A325-16764A9732EB}"/>
              </a:ext>
            </a:extLst>
          </p:cNvPr>
          <p:cNvSpPr txBox="1"/>
          <p:nvPr/>
        </p:nvSpPr>
        <p:spPr>
          <a:xfrm>
            <a:off x="3991909" y="2718272"/>
            <a:ext cx="1570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Espace public très rafraîchissant</a:t>
            </a:r>
          </a:p>
        </p:txBody>
      </p:sp>
      <p:pic>
        <p:nvPicPr>
          <p:cNvPr id="32" name="zone_coeff_ru_curseur">
            <a:extLst>
              <a:ext uri="{FF2B5EF4-FFF2-40B4-BE49-F238E27FC236}">
                <a16:creationId xmlns:a16="http://schemas.microsoft.com/office/drawing/2014/main" id="{07E6566C-AE16-33FB-0B10-1897683DF48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9178" y="1978946"/>
            <a:ext cx="216000" cy="196364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1F5DF589-1FD3-4B13-9BAB-E4814C1486FA}"/>
              </a:ext>
            </a:extLst>
          </p:cNvPr>
          <p:cNvSpPr txBox="1"/>
          <p:nvPr/>
        </p:nvSpPr>
        <p:spPr>
          <a:xfrm>
            <a:off x="2810238" y="2300921"/>
            <a:ext cx="4762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2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586A8838-E396-59E5-AC0F-DB258C9BB497}"/>
              </a:ext>
            </a:extLst>
          </p:cNvPr>
          <p:cNvSpPr/>
          <p:nvPr/>
        </p:nvSpPr>
        <p:spPr>
          <a:xfrm>
            <a:off x="7521963" y="1373542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3B87FF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Perméabilité</a:t>
            </a:r>
            <a:endParaRPr lang="en-US" sz="1300" b="1" dirty="0">
              <a:solidFill>
                <a:srgbClr val="3B87FF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B40908C-E01E-18F0-EE48-0E6C941956C2}"/>
              </a:ext>
            </a:extLst>
          </p:cNvPr>
          <p:cNvSpPr txBox="1"/>
          <p:nvPr/>
        </p:nvSpPr>
        <p:spPr>
          <a:xfrm>
            <a:off x="6796915" y="204023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zone_coeff_perm_resultat">
            <a:extLst>
              <a:ext uri="{FF2B5EF4-FFF2-40B4-BE49-F238E27FC236}">
                <a16:creationId xmlns:a16="http://schemas.microsoft.com/office/drawing/2014/main" id="{0C9F516E-8C48-ED2A-8BD0-085E0A2F73E6}"/>
              </a:ext>
            </a:extLst>
          </p:cNvPr>
          <p:cNvSpPr txBox="1"/>
          <p:nvPr/>
        </p:nvSpPr>
        <p:spPr>
          <a:xfrm>
            <a:off x="9676557" y="1313570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coeff_perm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EF0A19D3-B533-0DA6-2599-67AE29B1CA40}"/>
              </a:ext>
            </a:extLst>
          </p:cNvPr>
          <p:cNvSpPr txBox="1"/>
          <p:nvPr/>
        </p:nvSpPr>
        <p:spPr>
          <a:xfrm>
            <a:off x="6877935" y="2361601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imperméables</a:t>
            </a:r>
          </a:p>
        </p:txBody>
      </p:sp>
      <p:sp>
        <p:nvSpPr>
          <p:cNvPr id="42" name="zone_coeff_perm_analyse">
            <a:extLst>
              <a:ext uri="{FF2B5EF4-FFF2-40B4-BE49-F238E27FC236}">
                <a16:creationId xmlns:a16="http://schemas.microsoft.com/office/drawing/2014/main" id="{D815779D-E063-1683-BE0A-93A969EED637}"/>
              </a:ext>
            </a:extLst>
          </p:cNvPr>
          <p:cNvSpPr txBox="1"/>
          <p:nvPr/>
        </p:nvSpPr>
        <p:spPr>
          <a:xfrm>
            <a:off x="6877936" y="2800168"/>
            <a:ext cx="4802440" cy="62666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analyse_coeff_perm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155C661-08F5-D72C-6159-534478BB643B}"/>
              </a:ext>
            </a:extLst>
          </p:cNvPr>
          <p:cNvSpPr txBox="1"/>
          <p:nvPr/>
        </p:nvSpPr>
        <p:spPr>
          <a:xfrm>
            <a:off x="11438320" y="2020092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3B861828-3789-1227-5D24-D929840053A3}"/>
              </a:ext>
            </a:extLst>
          </p:cNvPr>
          <p:cNvSpPr txBox="1"/>
          <p:nvPr/>
        </p:nvSpPr>
        <p:spPr>
          <a:xfrm>
            <a:off x="10220823" y="2394801"/>
            <a:ext cx="1570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Sols très perméables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78F3BB8-CE4E-9740-E494-B41572EA3E7A}"/>
              </a:ext>
            </a:extLst>
          </p:cNvPr>
          <p:cNvSpPr txBox="1"/>
          <p:nvPr/>
        </p:nvSpPr>
        <p:spPr>
          <a:xfrm>
            <a:off x="9123037" y="2034800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3" name="Graphique 52">
            <a:extLst>
              <a:ext uri="{FF2B5EF4-FFF2-40B4-BE49-F238E27FC236}">
                <a16:creationId xmlns:a16="http://schemas.microsoft.com/office/drawing/2014/main" id="{6C268903-4805-4D69-25F9-A7CAA99CCA3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21450" y="1350349"/>
            <a:ext cx="341505" cy="341505"/>
          </a:xfrm>
          <a:prstGeom prst="rect">
            <a:avLst/>
          </a:prstGeom>
        </p:spPr>
      </p:pic>
      <p:pic>
        <p:nvPicPr>
          <p:cNvPr id="57" name="zone_coeff_perm_echelle">
            <a:extLst>
              <a:ext uri="{FF2B5EF4-FFF2-40B4-BE49-F238E27FC236}">
                <a16:creationId xmlns:a16="http://schemas.microsoft.com/office/drawing/2014/main" id="{EF0F536C-1764-1056-48BC-43AB3887574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35040" y="1936062"/>
            <a:ext cx="4645336" cy="144000"/>
          </a:xfrm>
          <a:prstGeom prst="rect">
            <a:avLst/>
          </a:prstGeom>
        </p:spPr>
      </p:pic>
      <p:pic>
        <p:nvPicPr>
          <p:cNvPr id="50" name="zone_coeff_perm_curseur">
            <a:extLst>
              <a:ext uri="{FF2B5EF4-FFF2-40B4-BE49-F238E27FC236}">
                <a16:creationId xmlns:a16="http://schemas.microsoft.com/office/drawing/2014/main" id="{3BA044A5-E7AE-D86E-2624-A658E6201E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96207" y="1817384"/>
            <a:ext cx="158400" cy="144000"/>
          </a:xfrm>
          <a:prstGeom prst="rect">
            <a:avLst/>
          </a:prstGeom>
        </p:spPr>
      </p:pic>
      <p:sp>
        <p:nvSpPr>
          <p:cNvPr id="69" name="Text 16">
            <a:extLst>
              <a:ext uri="{FF2B5EF4-FFF2-40B4-BE49-F238E27FC236}">
                <a16:creationId xmlns:a16="http://schemas.microsoft.com/office/drawing/2014/main" id="{FDD54181-1A52-1FB0-8094-240DCA72BF57}"/>
              </a:ext>
            </a:extLst>
          </p:cNvPr>
          <p:cNvSpPr/>
          <p:nvPr/>
        </p:nvSpPr>
        <p:spPr>
          <a:xfrm>
            <a:off x="7521962" y="4084174"/>
            <a:ext cx="1448705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Coefficient de</a:t>
            </a:r>
            <a:br>
              <a:rPr lang="en-US" sz="12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300" b="1" kern="0" spc="150" dirty="0" err="1">
                <a:solidFill>
                  <a:srgbClr val="29A31E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</a:t>
            </a:r>
            <a:endParaRPr lang="en-US" sz="1300" b="1" dirty="0">
              <a:solidFill>
                <a:srgbClr val="29A31E"/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2C5F969-AE63-3128-F3BB-7DC5604B47A5}"/>
              </a:ext>
            </a:extLst>
          </p:cNvPr>
          <p:cNvSpPr txBox="1"/>
          <p:nvPr/>
        </p:nvSpPr>
        <p:spPr>
          <a:xfrm>
            <a:off x="6796915" y="4793569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1" name="zone_coeff_bio_resultat">
            <a:extLst>
              <a:ext uri="{FF2B5EF4-FFF2-40B4-BE49-F238E27FC236}">
                <a16:creationId xmlns:a16="http://schemas.microsoft.com/office/drawing/2014/main" id="{4AB29B46-26F9-32EF-1FA1-8E9998B06F53}"/>
              </a:ext>
            </a:extLst>
          </p:cNvPr>
          <p:cNvSpPr txBox="1"/>
          <p:nvPr/>
        </p:nvSpPr>
        <p:spPr>
          <a:xfrm>
            <a:off x="9676557" y="4054207"/>
            <a:ext cx="21149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coeff_bio</a:t>
            </a:r>
            <a:r>
              <a:rPr lang="fr-FR" sz="1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/ 1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C9205A4B-479A-F86A-1319-61FAC62C125B}"/>
              </a:ext>
            </a:extLst>
          </p:cNvPr>
          <p:cNvSpPr txBox="1"/>
          <p:nvPr/>
        </p:nvSpPr>
        <p:spPr>
          <a:xfrm>
            <a:off x="6877935" y="5148688"/>
            <a:ext cx="1623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Biodiversité inexistante</a:t>
            </a:r>
          </a:p>
        </p:txBody>
      </p:sp>
      <p:sp>
        <p:nvSpPr>
          <p:cNvPr id="73" name="zone_coeff_bio_analyse">
            <a:extLst>
              <a:ext uri="{FF2B5EF4-FFF2-40B4-BE49-F238E27FC236}">
                <a16:creationId xmlns:a16="http://schemas.microsoft.com/office/drawing/2014/main" id="{165C3EED-35E8-A107-2A5B-A5E12189F11F}"/>
              </a:ext>
            </a:extLst>
          </p:cNvPr>
          <p:cNvSpPr txBox="1"/>
          <p:nvPr/>
        </p:nvSpPr>
        <p:spPr>
          <a:xfrm>
            <a:off x="6877936" y="5611372"/>
            <a:ext cx="4802440" cy="626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analyse_coeff_bio</a:t>
            </a:r>
            <a:r>
              <a:rPr lang="fr-FR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4226318D-0873-1A75-0DCA-C5F273BA3CCD}"/>
              </a:ext>
            </a:extLst>
          </p:cNvPr>
          <p:cNvSpPr txBox="1"/>
          <p:nvPr/>
        </p:nvSpPr>
        <p:spPr>
          <a:xfrm>
            <a:off x="11438320" y="4791141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7FEB726F-451B-12CF-95E2-3B95D18FBBAD}"/>
              </a:ext>
            </a:extLst>
          </p:cNvPr>
          <p:cNvSpPr txBox="1"/>
          <p:nvPr/>
        </p:nvSpPr>
        <p:spPr>
          <a:xfrm>
            <a:off x="9818920" y="5146779"/>
            <a:ext cx="1972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Potentiel écosystème-relais</a:t>
            </a:r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5E1DF01C-0F14-B74F-F7CB-666DD3A739BC}"/>
              </a:ext>
            </a:extLst>
          </p:cNvPr>
          <p:cNvSpPr txBox="1"/>
          <p:nvPr/>
        </p:nvSpPr>
        <p:spPr>
          <a:xfrm>
            <a:off x="9123037" y="4794672"/>
            <a:ext cx="4762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|</a:t>
            </a:r>
          </a:p>
          <a:p>
            <a:pPr algn="ctr"/>
            <a:r>
              <a:rPr lang="fr-FR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0,5</a:t>
            </a:r>
            <a:endParaRPr lang="fr-FR" sz="10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1" name="zone_coeff_bio_echelle">
            <a:extLst>
              <a:ext uri="{FF2B5EF4-FFF2-40B4-BE49-F238E27FC236}">
                <a16:creationId xmlns:a16="http://schemas.microsoft.com/office/drawing/2014/main" id="{E05A7EC6-5813-390D-C513-B8F343743BC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035041" y="4681560"/>
            <a:ext cx="4645335" cy="144000"/>
          </a:xfrm>
          <a:prstGeom prst="rect">
            <a:avLst/>
          </a:prstGeom>
        </p:spPr>
      </p:pic>
      <p:pic>
        <p:nvPicPr>
          <p:cNvPr id="79" name="zone_coeff_bio_curseur">
            <a:extLst>
              <a:ext uri="{FF2B5EF4-FFF2-40B4-BE49-F238E27FC236}">
                <a16:creationId xmlns:a16="http://schemas.microsoft.com/office/drawing/2014/main" id="{6E922DBF-EC40-62AE-5811-0C7DA85797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96207" y="4572348"/>
            <a:ext cx="158400" cy="144000"/>
          </a:xfrm>
          <a:prstGeom prst="rect">
            <a:avLst/>
          </a:prstGeom>
        </p:spPr>
      </p:pic>
      <p:pic>
        <p:nvPicPr>
          <p:cNvPr id="83" name="Graphique 82">
            <a:extLst>
              <a:ext uri="{FF2B5EF4-FFF2-40B4-BE49-F238E27FC236}">
                <a16:creationId xmlns:a16="http://schemas.microsoft.com/office/drawing/2014/main" id="{F4830C2E-47F8-242B-E106-D059B106FBE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996207" y="4054303"/>
            <a:ext cx="356382" cy="356382"/>
          </a:xfrm>
          <a:prstGeom prst="rect">
            <a:avLst/>
          </a:prstGeom>
        </p:spPr>
      </p:pic>
      <p:graphicFrame>
        <p:nvGraphicFramePr>
          <p:cNvPr id="5" name="graph_repartition_sols">
            <a:extLst>
              <a:ext uri="{FF2B5EF4-FFF2-40B4-BE49-F238E27FC236}">
                <a16:creationId xmlns:a16="http://schemas.microsoft.com/office/drawing/2014/main" id="{0AF920CF-9639-5B00-C9CB-30F812DB23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2099625"/>
              </p:ext>
            </p:extLst>
          </p:nvPr>
        </p:nvGraphicFramePr>
        <p:xfrm>
          <a:off x="646093" y="4492187"/>
          <a:ext cx="5111496" cy="17413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</p:spTree>
    <p:extLst>
      <p:ext uri="{BB962C8B-B14F-4D97-AF65-F5344CB8AC3E}">
        <p14:creationId xmlns:p14="http://schemas.microsoft.com/office/powerpoint/2010/main" val="330985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5423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titre_fiche_diagnostic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011736" y="150132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645627" y="1501320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 de la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méthode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061698" y="195079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_nom_scientifique_fiche_diagnostic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695590" y="1910702"/>
            <a:ext cx="50979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nom_scientifique_fiche_diagnostic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053822" y="243411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Temporalité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_delai_fiche_diagnostic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8597701" y="2458700"/>
            <a:ext cx="31260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_cout_fiche_diagnostic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7791261" y="1966678"/>
            <a:ext cx="39325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13" name="Text 16">
            <a:extLst>
              <a:ext uri="{FF2B5EF4-FFF2-40B4-BE49-F238E27FC236}">
                <a16:creationId xmlns:a16="http://schemas.microsoft.com/office/drawing/2014/main" id="{CA41AB5B-09AF-0B22-7941-4C1F6CF4952C}"/>
              </a:ext>
            </a:extLst>
          </p:cNvPr>
          <p:cNvSpPr/>
          <p:nvPr/>
        </p:nvSpPr>
        <p:spPr>
          <a:xfrm>
            <a:off x="7011736" y="3617884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 de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livrable</a:t>
            </a:r>
            <a:endParaRPr lang="en-US" b="1" kern="0" spc="15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_type_livrable">
            <a:extLst>
              <a:ext uri="{FF2B5EF4-FFF2-40B4-BE49-F238E27FC236}">
                <a16:creationId xmlns:a16="http://schemas.microsoft.com/office/drawing/2014/main" id="{C75D01EB-F121-7AF7-4BAD-AF866701B221}"/>
              </a:ext>
            </a:extLst>
          </p:cNvPr>
          <p:cNvSpPr txBox="1"/>
          <p:nvPr/>
        </p:nvSpPr>
        <p:spPr>
          <a:xfrm>
            <a:off x="7061697" y="4090330"/>
            <a:ext cx="36693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type_livrable_fiche_diagnostic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0" name="zone_objectifs_fiche_diagnostic_titre">
            <a:extLst>
              <a:ext uri="{FF2B5EF4-FFF2-40B4-BE49-F238E27FC236}">
                <a16:creationId xmlns:a16="http://schemas.microsoft.com/office/drawing/2014/main" id="{99E06783-A889-DA6B-5F7C-5556B6AEA860}"/>
              </a:ext>
            </a:extLst>
          </p:cNvPr>
          <p:cNvSpPr/>
          <p:nvPr/>
        </p:nvSpPr>
        <p:spPr>
          <a:xfrm>
            <a:off x="695590" y="2680171"/>
            <a:ext cx="3477347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_objectifs_fiche_diagnostic">
            <a:extLst>
              <a:ext uri="{FF2B5EF4-FFF2-40B4-BE49-F238E27FC236}">
                <a16:creationId xmlns:a16="http://schemas.microsoft.com/office/drawing/2014/main" id="{E94DA038-428D-E601-0430-B2A3A81A2CB9}"/>
              </a:ext>
            </a:extLst>
          </p:cNvPr>
          <p:cNvSpPr txBox="1"/>
          <p:nvPr/>
        </p:nvSpPr>
        <p:spPr>
          <a:xfrm>
            <a:off x="695590" y="3127382"/>
            <a:ext cx="54004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objectifs_fiche_diagnostic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910928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643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1359883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852627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1312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13124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21895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177459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86496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Dispositifs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3" name="zone_aid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576263" y="1359255"/>
            <a:ext cx="10187280" cy="49228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5750" indent="-285750">
              <a:lnSpc>
                <a:spcPts val="1800"/>
              </a:lnSpc>
              <a:spcBef>
                <a:spcPts val="2500"/>
              </a:spcBef>
              <a:buFont typeface="Arial" panose="020B0604020202020204" pitchFamily="34" charset="0"/>
              <a:buChar char="•"/>
            </a:pPr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  <a:br>
              <a:rPr lang="en-US" sz="1400" b="1" dirty="0">
                <a:latin typeface="Marianne" panose="02000000000000000000" pitchFamily="50" charset="0"/>
              </a:rPr>
            </a:b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{{</a:t>
            </a:r>
            <a:r>
              <a:rPr 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aide_type</a:t>
            </a:r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solidFill>
                <a:srgbClr val="5C5C5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2502</TotalTime>
  <Words>684</Words>
  <Application>Microsoft Office PowerPoint</Application>
  <PresentationFormat>Grand écran</PresentationFormat>
  <Paragraphs>122</Paragraphs>
  <Slides>13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Analyse simplifiée de la surchauffe de l’espace à rafraîchir</vt:lpstr>
      <vt:lpstr>Méthode {{n°_diagnostic}} : {{titre_fiche_diagnostic}}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319</cp:revision>
  <dcterms:created xsi:type="dcterms:W3CDTF">2026-05-22T14:14:17Z</dcterms:created>
  <dcterms:modified xsi:type="dcterms:W3CDTF">2026-10-05T09:20:01Z</dcterms:modified>
</cp:coreProperties>
</file>