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4" r:id="rId3"/>
    <p:sldId id="266" r:id="rId4"/>
    <p:sldId id="270" r:id="rId5"/>
    <p:sldId id="274" r:id="rId6"/>
    <p:sldId id="275" r:id="rId7"/>
    <p:sldId id="278" r:id="rId8"/>
    <p:sldId id="265" r:id="rId9"/>
    <p:sldId id="276" r:id="rId10"/>
    <p:sldId id="277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33" d="100"/>
          <a:sy n="133" d="100"/>
        </p:scale>
        <p:origin x="37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0607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641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%7b%7baide_lien%7d%7d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189" y="193063"/>
            <a:ext cx="777534" cy="916916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>
              <a:latin typeface="Marianne" panose="02000000000000000000" pitchFamily="50" charset="0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925782" y="2347002"/>
            <a:ext cx="186160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7922" y="2349530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237469" y="316173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0" y="2395650"/>
            <a:ext cx="217079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5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4" y="485353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884517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491713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72EFF39-F777-8E5F-FD01-D72F943C7979}"/>
              </a:ext>
            </a:extLst>
          </p:cNvPr>
          <p:cNvSpPr txBox="1"/>
          <p:nvPr/>
        </p:nvSpPr>
        <p:spPr>
          <a:xfrm>
            <a:off x="8237469" y="257820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098E478-051C-0E99-FB36-5E8423C9D312}"/>
              </a:ext>
            </a:extLst>
          </p:cNvPr>
          <p:cNvSpPr txBox="1"/>
          <p:nvPr/>
        </p:nvSpPr>
        <p:spPr>
          <a:xfrm>
            <a:off x="8237469" y="374526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23D0C9A-6FEB-77DA-29C5-031AF616F917}"/>
              </a:ext>
            </a:extLst>
          </p:cNvPr>
          <p:cNvSpPr txBox="1"/>
          <p:nvPr/>
        </p:nvSpPr>
        <p:spPr>
          <a:xfrm>
            <a:off x="8237469" y="435492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9F8ACD8-1EDA-512F-86EF-594B0287BCB3}"/>
              </a:ext>
            </a:extLst>
          </p:cNvPr>
          <p:cNvSpPr txBox="1"/>
          <p:nvPr/>
        </p:nvSpPr>
        <p:spPr>
          <a:xfrm>
            <a:off x="8237469" y="4917253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</p:spTree>
    <p:extLst>
      <p:ext uri="{BB962C8B-B14F-4D97-AF65-F5344CB8AC3E}">
        <p14:creationId xmlns:p14="http://schemas.microsoft.com/office/powerpoint/2010/main" val="45240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}}</a:t>
            </a:r>
            <a:endParaRPr lang="fr-FR" dirty="0">
              <a:latin typeface="Marianne" panose="02000000000000000000" pitchFamily="50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852627"/>
            <a:ext cx="9324890" cy="1414017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1312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10" name="zone_quantite_materiau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256494" y="1913124"/>
            <a:ext cx="1908065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626" y="2021895"/>
            <a:ext cx="1043847" cy="1075479"/>
          </a:xfrm>
          <a:prstGeom prst="rect">
            <a:avLst/>
          </a:prstGeom>
        </p:spPr>
      </p:pic>
      <p:sp>
        <p:nvSpPr>
          <p:cNvPr id="17" name="zone_description_materiau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177459"/>
            <a:ext cx="7349126" cy="6326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r>
              <a:rPr lang="fr-FR" sz="1300" dirty="0">
                <a:latin typeface="Marianne" panose="02000000000000000000" pitchFamily="50" charset="0"/>
              </a:rPr>
              <a:t>{{</a:t>
            </a:r>
            <a:r>
              <a:rPr lang="fr-FR" sz="1300" dirty="0" err="1">
                <a:latin typeface="Marianne" panose="02000000000000000000" pitchFamily="50" charset="0"/>
              </a:rPr>
              <a:t>description_materiau</a:t>
            </a:r>
            <a:r>
              <a:rPr lang="fr-FR" sz="1300" dirty="0">
                <a:latin typeface="Marianne" panose="02000000000000000000" pitchFamily="50" charset="0"/>
              </a:rPr>
              <a:t>}}</a:t>
            </a:r>
          </a:p>
        </p:txBody>
      </p:sp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886496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2" y="345395"/>
            <a:ext cx="10082261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_recap_estimation_fs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602517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529871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2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200" b="1" i="0" dirty="0">
                <a:effectLst/>
                <a:latin typeface="Marianne" panose="02000000000000000000" pitchFamily="50" charset="0"/>
              </a:rPr>
              <a:t>}}</a:t>
            </a:r>
            <a:endParaRPr lang="fr-FR" sz="1200" b="1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_recap_estimation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10130008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pagination_recap_estimation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zone_titre_fs_recap_estimation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titre_fiche_solution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6" name="recap_total_libelles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680597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latin typeface="Marianne" panose="02000000000000000000" pitchFamily="50" charset="0"/>
            </a:endParaRPr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2507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Marianne" panose="02000000000000000000" pitchFamily="50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718981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8" name="recap_total_libelles_valeurs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8" name="zone_quantite_materiau">
            <a:extLst>
              <a:ext uri="{FF2B5EF4-FFF2-40B4-BE49-F238E27FC236}">
                <a16:creationId xmlns:a16="http://schemas.microsoft.com/office/drawing/2014/main" id="{2E3BE4A1-A1C8-70C6-319A-D994B244BC29}"/>
              </a:ext>
            </a:extLst>
          </p:cNvPr>
          <p:cNvSpPr txBox="1"/>
          <p:nvPr/>
        </p:nvSpPr>
        <p:spPr>
          <a:xfrm>
            <a:off x="1865713" y="1824986"/>
            <a:ext cx="55971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000" i="0" dirty="0" err="1">
                <a:effectLst/>
                <a:latin typeface="Marianne" panose="02000000000000000000" pitchFamily="50" charset="0"/>
              </a:rPr>
              <a:t>quantite_materiau</a:t>
            </a:r>
            <a:r>
              <a:rPr lang="fr-FR" sz="1000" i="0" dirty="0">
                <a:effectLst/>
                <a:latin typeface="Marianne" panose="02000000000000000000" pitchFamily="50" charset="0"/>
              </a:rPr>
              <a:t>}}</a:t>
            </a:r>
            <a:endParaRPr lang="fr-FR" sz="1000" dirty="0">
              <a:latin typeface="Marianne" panose="02000000000000000000" pitchFamily="50" charset="0"/>
            </a:endParaRP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C020DFA-7CBC-D296-9C51-4CDB5F6EEA67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 3">
            <a:extLst>
              <a:ext uri="{FF2B5EF4-FFF2-40B4-BE49-F238E27FC236}">
                <a16:creationId xmlns:a16="http://schemas.microsoft.com/office/drawing/2014/main" id="{513ED38C-6EE1-7913-25F4-4C8F7039ADA0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Aides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financières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et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ingénierie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Aides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mobilisables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00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5EDA-690E-3CC6-C42C-06C82CED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AAE1D7-6F33-E157-3225-75B1CCD5D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84441D3F-C0C4-D64F-E9FD-151DD76BD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9706989" cy="615294"/>
          </a:xfrm>
        </p:spPr>
        <p:txBody>
          <a:bodyPr>
            <a:normAutofit fontScale="90000"/>
          </a:bodyPr>
          <a:lstStyle/>
          <a:p>
            <a:pPr marL="0" indent="0">
              <a:buNone/>
            </a:pPr>
            <a:r>
              <a:rPr lang="en-US" sz="3200" dirty="0">
                <a:latin typeface="Marianne" panose="02000000000000000000" pitchFamily="50" charset="0"/>
              </a:rPr>
              <a:t>Aides </a:t>
            </a:r>
            <a:r>
              <a:rPr lang="en-US" sz="3200" dirty="0" err="1">
                <a:latin typeface="Marianne" panose="02000000000000000000" pitchFamily="50" charset="0"/>
              </a:rPr>
              <a:t>financières</a:t>
            </a:r>
            <a:r>
              <a:rPr lang="en-US" sz="3200" dirty="0">
                <a:latin typeface="Marianne" panose="02000000000000000000" pitchFamily="50" charset="0"/>
              </a:rPr>
              <a:t> et </a:t>
            </a:r>
            <a:r>
              <a:rPr lang="en-US" sz="3200" dirty="0" err="1">
                <a:latin typeface="Marianne" panose="02000000000000000000" pitchFamily="50" charset="0"/>
              </a:rPr>
              <a:t>en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 err="1">
                <a:latin typeface="Marianne" panose="02000000000000000000" pitchFamily="50" charset="0"/>
              </a:rPr>
              <a:t>ingénierie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en-US" sz="32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pagination_aides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3200" dirty="0">
              <a:latin typeface="Marianne" panose="02000000000000000000" pitchFamily="50" charset="0"/>
            </a:endParaRPr>
          </a:p>
        </p:txBody>
      </p:sp>
      <p:sp>
        <p:nvSpPr>
          <p:cNvPr id="31" name="contour_aide">
            <a:extLst>
              <a:ext uri="{FF2B5EF4-FFF2-40B4-BE49-F238E27FC236}">
                <a16:creationId xmlns:a16="http://schemas.microsoft.com/office/drawing/2014/main" id="{6F190980-5A7F-CFD0-DB5F-2885D8DD4262}"/>
              </a:ext>
            </a:extLst>
          </p:cNvPr>
          <p:cNvSpPr/>
          <p:nvPr/>
        </p:nvSpPr>
        <p:spPr>
          <a:xfrm>
            <a:off x="576263" y="1436010"/>
            <a:ext cx="10581312" cy="1319489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</a:endParaRPr>
          </a:p>
        </p:txBody>
      </p:sp>
      <p:sp>
        <p:nvSpPr>
          <p:cNvPr id="32" name="zone_aide_type">
            <a:extLst>
              <a:ext uri="{FF2B5EF4-FFF2-40B4-BE49-F238E27FC236}">
                <a16:creationId xmlns:a16="http://schemas.microsoft.com/office/drawing/2014/main" id="{CA13F4C7-9C9C-5D69-7ABF-29ED7E1E953C}"/>
              </a:ext>
            </a:extLst>
          </p:cNvPr>
          <p:cNvSpPr/>
          <p:nvPr/>
        </p:nvSpPr>
        <p:spPr>
          <a:xfrm>
            <a:off x="759144" y="1502851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900" kern="0" spc="15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aide_type</a:t>
            </a:r>
            <a:r>
              <a:rPr lang="en-US" sz="9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9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33" name="zone_aide_titre">
            <a:extLst>
              <a:ext uri="{FF2B5EF4-FFF2-40B4-BE49-F238E27FC236}">
                <a16:creationId xmlns:a16="http://schemas.microsoft.com/office/drawing/2014/main" id="{3A009836-E679-1A4E-868D-C41048F4DF96}"/>
              </a:ext>
            </a:extLst>
          </p:cNvPr>
          <p:cNvSpPr/>
          <p:nvPr/>
        </p:nvSpPr>
        <p:spPr>
          <a:xfrm>
            <a:off x="759143" y="1710331"/>
            <a:ext cx="10187280" cy="407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b="1" dirty="0">
                <a:latin typeface="Marianne" panose="02000000000000000000" pitchFamily="50" charset="0"/>
              </a:rPr>
              <a:t>{{</a:t>
            </a:r>
            <a:r>
              <a:rPr lang="en-US" sz="1400" b="1" dirty="0" err="1">
                <a:latin typeface="Marianne" panose="02000000000000000000" pitchFamily="50" charset="0"/>
              </a:rPr>
              <a:t>aide_nom</a:t>
            </a:r>
            <a:r>
              <a:rPr lang="en-US" sz="1400" b="1" dirty="0">
                <a:latin typeface="Marianne" panose="02000000000000000000" pitchFamily="50" charset="0"/>
              </a:rPr>
              <a:t>}}</a:t>
            </a:r>
          </a:p>
        </p:txBody>
      </p: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4372EE40-FFB9-5091-F127-1A16325D4B9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 3">
            <a:extLst>
              <a:ext uri="{FF2B5EF4-FFF2-40B4-BE49-F238E27FC236}">
                <a16:creationId xmlns:a16="http://schemas.microsoft.com/office/drawing/2014/main" id="{380279C3-3129-980B-2687-34A5CF7BD239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</a:endParaRPr>
          </a:p>
        </p:txBody>
      </p: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023BEAE7-454A-8F1A-3121-9FE3AF0D1D26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zone_aide_lien">
            <a:extLst>
              <a:ext uri="{FF2B5EF4-FFF2-40B4-BE49-F238E27FC236}">
                <a16:creationId xmlns:a16="http://schemas.microsoft.com/office/drawing/2014/main" id="{00ED1968-10CF-E3DC-940B-6214BFEF0E99}"/>
              </a:ext>
            </a:extLst>
          </p:cNvPr>
          <p:cNvSpPr/>
          <p:nvPr/>
        </p:nvSpPr>
        <p:spPr>
          <a:xfrm>
            <a:off x="759143" y="2448390"/>
            <a:ext cx="1466775" cy="288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aide_lien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}}</a:t>
            </a:r>
            <a:endParaRPr lang="en-US" sz="1100" dirty="0">
              <a:latin typeface="Marianne" panose="02000000000000000000" pitchFamily="50" charset="0"/>
            </a:endParaRPr>
          </a:p>
        </p:txBody>
      </p:sp>
      <p:sp>
        <p:nvSpPr>
          <p:cNvPr id="3" name="zone_aide_details">
            <a:extLst>
              <a:ext uri="{FF2B5EF4-FFF2-40B4-BE49-F238E27FC236}">
                <a16:creationId xmlns:a16="http://schemas.microsoft.com/office/drawing/2014/main" id="{245A9113-DBB3-676F-614B-19E985C21046}"/>
              </a:ext>
            </a:extLst>
          </p:cNvPr>
          <p:cNvSpPr/>
          <p:nvPr/>
        </p:nvSpPr>
        <p:spPr>
          <a:xfrm>
            <a:off x="759143" y="2139464"/>
            <a:ext cx="10187280" cy="397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Porteur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aide_financiers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 ·  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Échéance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aide_echeance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917010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Ressources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utiles</a:t>
            </a:r>
            <a:endParaRPr lang="en-US" sz="3733" dirty="0">
              <a:latin typeface="Marianne" panose="02000000000000000000" pitchFamily="50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Documentation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complémentaire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617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</a:rPr>
              <a:t>Ressources</a:t>
            </a:r>
            <a:r>
              <a:rPr lang="en-US" sz="2800" dirty="0">
                <a:latin typeface="Marianne" panose="02000000000000000000" pitchFamily="50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</a:rPr>
              <a:t>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pagination_ressources_utiles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_titre_fiche_solution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zone_ressources_fiche_solution">
            <a:extLst>
              <a:ext uri="{FF2B5EF4-FFF2-40B4-BE49-F238E27FC236}">
                <a16:creationId xmlns:a16="http://schemas.microsoft.com/office/drawing/2014/main" id="{67927841-950D-B96E-D880-93E461963945}"/>
              </a:ext>
            </a:extLst>
          </p:cNvPr>
          <p:cNvSpPr txBox="1"/>
          <p:nvPr/>
        </p:nvSpPr>
        <p:spPr>
          <a:xfrm>
            <a:off x="839464" y="1626616"/>
            <a:ext cx="97069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200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ressources_utiles_fiche_solution</a:t>
            </a:r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2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6880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1768</TotalTime>
  <Words>474</Words>
  <Application>Microsoft Office PowerPoint</Application>
  <PresentationFormat>Grand écran</PresentationFormat>
  <Paragraphs>70</Paragraphs>
  <Slides>10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Marianne</vt:lpstr>
      <vt:lpstr>Thème Office</vt:lpstr>
      <vt:lpstr>{{nom_projet}}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Présentation PowerPoint</vt:lpstr>
      <vt:lpstr>Aides financières et en ingénierie {{pagination_aides}}</vt:lpstr>
      <vt:lpstr>Présentation PowerPoint</vt:lpstr>
      <vt:lpstr>Ressources utiles {{pagination_ressources_utiles}}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188</cp:revision>
  <dcterms:created xsi:type="dcterms:W3CDTF">2026-05-22T14:14:17Z</dcterms:created>
  <dcterms:modified xsi:type="dcterms:W3CDTF">2026-09-18T15:13:37Z</dcterms:modified>
</cp:coreProperties>
</file>